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4aff475-3268-e124-bfed-17d0140e4b2c}">
          <p14:sldIdLst>
            <p14:sldId id="256"/>
            <p14:sldId id="257"/>
          </p14:sldIdLst>
        </p14:section>
        <p14:section name="Core content" id="{0c9e30cb-3e2a-fac3-6f64-9a9d529a59a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Wrap-up" id="{a9a566c9-861c-34bc-8bb0-112b6423a7a3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 a bounded case in depth within its real-world context
Core principles, study planning and applied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and defining features of case study
Plan sampling, data collection and analysis appropriate to the approach
Evaluate quality, ethics and reporting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Investigate a bounded case within its context
Integrate multiple sources of evidence
Clarify that case studies may be qualitative, quantitative or mixed methods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Yin, Stake and Merriam as influential approaches
Contrast explanatory and interpretive emphases
Align the case-study tradition with the research aim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case may be a person, program, organization, event or process
Specify its unit of analysis
Distinguish the case from participants interviewed within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time, place, activity and organizational limits
State what is included and excluded
Keep boundaries aligned with the question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for context-dependent how or why questions
Examine a contemporary or otherwise bounded phenomenon in depth
Choose another design if case boundaries have no analytic role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the question to the bounded case
Specify what must be understood or explained
Introduce propositions only where the tradition requires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example: implementing teleophthalmology at one hospital
Bound the implementation to a defined period and service
Examine organizational influences on adoption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Intrinsic work prioritizes the particular case
Instrumental work uses a case to understand a broader issue
Collective work examines several cases around an issue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Justify depth in one case or comparison across cases
Select multiple cases for meaningful conceptual comparison
Avoid treating convenience alone as a full design rationale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Holistic designs study the case as a whole
Embedded designs analyze subunits within the case
Keep subunit findings connected to the overall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critical, typical, unusual or contrasting cases
Explain the logic of selection
Distinguish conceptual selection from statistical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people with different relationships to the case
Select relevant records and observation opportunities
Track missing perspectives or inaccessible evidence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Specify questions, access, sources and collection procedures
Use consistent procedures where comparisons require them
Adapt responsibly to field conditions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interviews, observation, records and artifacts as appropriate
Explain what each source can establish
Do not equate source quantity with automatic credibility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Organize records and preserve source identifiers
Trace claims to evidence and analytic decisions
Separate raw materials from interpretive summaries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detailed account of the case
Examine chronology, patterns and contextual relationships
Analyze discrepant evidence rather than forcing consensus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possible explanations for observed outcomes
Test patterns against supporting and contradicting evidence
State the limits of causal inference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Develop each case account before comparison
Compare themes or explanatory patterns across cases
Preserve meaningful contextual differences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Hypothetical evidence links uptake to workflow integration and staff support
Compare policy documents, interviews and observations
Examine alternative explanations such as equipment access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criteria consistent with the selected tradition
Make boundaries, evidence and interpretations transparent
Explain researcher access and assumptions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a potentially identifiable organization and staff
Balance contextual depth with disclosure risk
Distinguish analytic transferability from population estimates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case, boundaries, methods and context
Integrate evidence into a coherent account
Discuss what the case illuminates beyond its immediate setting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Yin. Case Study Research and Applications, 6th ed. SAGE. https://study.sagepub.com/yin6e
Creswell &amp; Poth. Qualitative Inquiry and Research Design. https://us2.sagepub.com/en-us/nam/qualitative-inquiry-and-research-design/book266033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3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Qualitative Research Methods  ·  Topic 04  ·  Case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Qualitative Research Methods  ·  Topic 04  ·  Case study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y.sagepub.com/yin6e" TargetMode="External"/><Relationship Id="rId5" Type="http://schemas.openxmlformats.org/officeDocument/2006/relationships/hyperlink" Target="https://us2.sagepub.com/en-us/nam/qualitative-inquiry-and-research-design/book266033" TargetMode="Externa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3"/>
                </a:solidFill>
              </a:rPr>
              <a:t>QUALITATIVE RESEARCH METHODS  ·  TOPIC 04 OF 12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6949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Case study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6118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Examine a bounded case in depth within its real-world context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617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Core principles, study planning and applied examples</a:t>
            </a:r>
            <a:endParaRPr lang="en-US" sz="1600" dirty="0"/>
          </a:p>
        </p:txBody>
      </p:sp>
      <p:sp>
        <p:nvSpPr>
          <p:cNvPr id="6" name="Halo"/>
          <p:cNvSpPr/>
          <p:nvPr/>
        </p:nvSpPr>
        <p:spPr>
          <a:xfrm>
            <a:off x="7680960" y="1417320"/>
            <a:ext cx="4023360" cy="4023360"/>
          </a:xfrm>
          <a:prstGeom prst="ellipse">
            <a:avLst/>
          </a:prstGeom>
          <a:solidFill>
            <a:schemeClr val="accent2">
              <a:alpha val="45000"/>
            </a:schemeClr>
          </a:solidFill>
          <a:ln/>
        </p:spPr>
      </p:sp>
      <p:sp>
        <p:nvSpPr>
          <p:cNvPr id="7" name="Icon circle"/>
          <p:cNvSpPr/>
          <p:nvPr/>
        </p:nvSpPr>
        <p:spPr>
          <a:xfrm>
            <a:off x="8001000" y="1737360"/>
            <a:ext cx="3383280" cy="3383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6820" y="2583180"/>
            <a:ext cx="169164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5" name="Objective 1"/>
          <p:cNvSpPr/>
          <p:nvPr/>
        </p:nvSpPr>
        <p:spPr>
          <a:xfrm>
            <a:off x="548640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1440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Explain the purpose and defining features of case study</a:t>
            </a:r>
            <a:endParaRPr lang="en-US" sz="2000" dirty="0"/>
          </a:p>
        </p:txBody>
      </p:sp>
      <p:sp>
        <p:nvSpPr>
          <p:cNvPr id="10" name="Objective 2"/>
          <p:cNvSpPr/>
          <p:nvPr/>
        </p:nvSpPr>
        <p:spPr>
          <a:xfrm>
            <a:off x="4353458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 circle"/>
          <p:cNvSpPr/>
          <p:nvPr/>
        </p:nvSpPr>
        <p:spPr>
          <a:xfrm>
            <a:off x="471921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388" y="23202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19218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4719218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Plan sampling, data collection and analysis appropriate to the approach</a:t>
            </a:r>
            <a:endParaRPr lang="en-US" sz="2000" dirty="0"/>
          </a:p>
        </p:txBody>
      </p:sp>
      <p:sp>
        <p:nvSpPr>
          <p:cNvPr id="15" name="Objective 3"/>
          <p:cNvSpPr/>
          <p:nvPr/>
        </p:nvSpPr>
        <p:spPr>
          <a:xfrm>
            <a:off x="8158277" y="1737360"/>
            <a:ext cx="3484778" cy="4251960"/>
          </a:xfrm>
          <a:prstGeom prst="roundRect">
            <a:avLst>
              <a:gd name="adj" fmla="val 314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 circle"/>
          <p:cNvSpPr/>
          <p:nvPr/>
        </p:nvSpPr>
        <p:spPr>
          <a:xfrm>
            <a:off x="852403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207" y="2320290"/>
            <a:ext cx="434340" cy="4343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524037" y="3200400"/>
            <a:ext cx="2753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OBJECTIVE 03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524037" y="3611880"/>
            <a:ext cx="275325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Evaluate quality, ethics and reporting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Definition and purpose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a bounded case within its context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Integrate multiple sources of evidence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Clarify that case studies may be qualitative, quantitative or mixed methods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Methodological orientations</a:t>
            </a:r>
            <a:endParaRPr lang="en-US" sz="3200" dirty="0"/>
          </a:p>
        </p:txBody>
      </p:sp>
      <p:graphicFrame>
        <p:nvGraphicFramePr>
          <p:cNvPr id="5" name="Methodological orien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Introduce Yin, Stake and Merriam as influential approaches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Contrast explanatory and interpretive emphases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Align the case-study tradition with the research aim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counts as a case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KEY IDEA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case may be a person, program, organization, event or process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its unit of analysis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the case from participants interviewed within it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Bounding the case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Define time, place, activity and organizational limits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State what is included and excluded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boundaries aligned with the question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When case study fits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context-dependent how or why questions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Examine a contemporary or otherwise bounded phenomenon in depth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Choose another design if case boundaries have no analytic role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Formulating the question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Link the question to the bounded case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what must be understood or explained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Introduce propositions only where the tradition requires them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Illustrative research problem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teleophthalmology at one hospital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Bound the implementation to a defined period and service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organizational influences on adoption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Intrinsic, instrumental and collective cases</a:t>
            </a:r>
            <a:endParaRPr lang="en-US" sz="3200" dirty="0"/>
          </a:p>
        </p:txBody>
      </p:sp>
      <p:graphicFrame>
        <p:nvGraphicFramePr>
          <p:cNvPr id="11" name="Intrinsic, instrumental and collective cas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Intrinsic work prioritizes the particular case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Instrumental work uses a case to understand a broader issue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Collective work examines several cases around an issue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Single and multiple-case designs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Justify depth in one case or comparison across cases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Select multiple cases for meaningful conceptual comparison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Avoid treating convenience alone as a full design rationale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Holistic and embedded units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Holistic designs study the case as a whole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Embedded designs analyze subunits within the case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Keep subunit findings connected to the overall case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 selection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Consider critical, typical, unusual or contrasting cases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the logic of selection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Distinguish conceptual selection from statistical sampling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Participant and document sampling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 people with different relationships to the case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Select relevant records and observation opportunities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Track missing perspectives or inaccessible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Case-study protocol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8288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Specify questions, access, sources and collection procedures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Use consistent procedures where comparisons require them</a:t>
            </a:r>
            <a:endParaRPr lang="en-US" sz="2200" dirty="0"/>
          </a:p>
        </p:txBody>
      </p:sp>
      <p:sp>
        <p:nvSpPr>
          <p:cNvPr id="9" name="Number 3"/>
          <p:cNvSpPr txBox="1"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46634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Adapt responsibly to field conditions</a:t>
            </a:r>
            <a:endParaRPr lang="en-US" sz="2200" dirty="0"/>
          </a:p>
        </p:txBody>
      </p:sp>
      <p:sp>
        <p:nvSpPr>
          <p:cNvPr id="11" name="Visual panel"/>
          <p:cNvSpPr/>
          <p:nvPr/>
        </p:nvSpPr>
        <p:spPr>
          <a:xfrm>
            <a:off x="8275320" y="1783080"/>
            <a:ext cx="3367735" cy="4206240"/>
          </a:xfrm>
          <a:prstGeom prst="roundRect">
            <a:avLst>
              <a:gd name="adj" fmla="val 4073"/>
            </a:avLst>
          </a:prstGeom>
          <a:solidFill>
            <a:schemeClr val="bg2"/>
          </a:solidFill>
          <a:ln/>
        </p:spPr>
      </p:sp>
      <p:sp>
        <p:nvSpPr>
          <p:cNvPr id="12" name="Icon circle"/>
          <p:cNvSpPr/>
          <p:nvPr/>
        </p:nvSpPr>
        <p:spPr>
          <a:xfrm>
            <a:off x="8999068" y="2926080"/>
            <a:ext cx="1920240" cy="1920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128" y="3406140"/>
            <a:ext cx="960120" cy="960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Multiple sources of evidence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Combine interviews, observation, records and artifacts as appropriate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Explain what each source can establish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Do not equate source quantity with automatic credibility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Case database and chain of evidence</a:t>
            </a:r>
            <a:endParaRPr lang="en-US" sz="3200" dirty="0"/>
          </a:p>
        </p:txBody>
      </p:sp>
      <p:sp>
        <p:nvSpPr>
          <p:cNvPr id="5" name="Flow connector"/>
          <p:cNvSpPr/>
          <p:nvPr/>
        </p:nvSpPr>
        <p:spPr>
          <a:xfrm>
            <a:off x="1463040" y="2606040"/>
            <a:ext cx="6695237" cy="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Number 1"/>
          <p:cNvSpPr txBox="1"/>
          <p:nvPr/>
        </p:nvSpPr>
        <p:spPr>
          <a:xfrm>
            <a:off x="548640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tep 1 panel"/>
          <p:cNvSpPr/>
          <p:nvPr/>
        </p:nvSpPr>
        <p:spPr>
          <a:xfrm>
            <a:off x="548640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Organize records and preserve source identifiers</a:t>
            </a:r>
            <a:endParaRPr lang="en-US" sz="2200" dirty="0"/>
          </a:p>
        </p:txBody>
      </p:sp>
      <p:sp>
        <p:nvSpPr>
          <p:cNvPr id="9" name="Flow gap"/>
          <p:cNvSpPr/>
          <p:nvPr/>
        </p:nvSpPr>
        <p:spPr>
          <a:xfrm>
            <a:off x="4243730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4353458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Step 2 panel"/>
          <p:cNvSpPr/>
          <p:nvPr/>
        </p:nvSpPr>
        <p:spPr>
          <a:xfrm>
            <a:off x="4353458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73498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Trace claims to evidence and analytic decisions</a:t>
            </a:r>
            <a:endParaRPr lang="en-US" sz="2200" dirty="0"/>
          </a:p>
        </p:txBody>
      </p:sp>
      <p:sp>
        <p:nvSpPr>
          <p:cNvPr id="13" name="Flow gap"/>
          <p:cNvSpPr/>
          <p:nvPr/>
        </p:nvSpPr>
        <p:spPr>
          <a:xfrm>
            <a:off x="8048549" y="2039112"/>
            <a:ext cx="1133856" cy="1133856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4" name="Number 3"/>
          <p:cNvSpPr txBox="1"/>
          <p:nvPr/>
        </p:nvSpPr>
        <p:spPr>
          <a:xfrm>
            <a:off x="8158277" y="21488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Step 3 panel"/>
          <p:cNvSpPr/>
          <p:nvPr/>
        </p:nvSpPr>
        <p:spPr>
          <a:xfrm>
            <a:off x="8158277" y="3429000"/>
            <a:ext cx="3484778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78317" y="3429000"/>
            <a:ext cx="284469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Separate raw materials from interpretive summaries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Within-case analysis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Build a detailed account of the case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Examine chronology, patterns and contextual relationships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Analyze discrepant evidence rather than forcing consensus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Explanation building and rival accounts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Number 1"/>
          <p:cNvSpPr txBox="1"/>
          <p:nvPr/>
        </p:nvSpPr>
        <p:spPr>
          <a:xfrm>
            <a:off x="914400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possible explanations for observed outcomes</a:t>
            </a:r>
            <a:endParaRPr lang="en-US" sz="2200" dirty="0"/>
          </a:p>
        </p:txBody>
      </p:sp>
      <p:sp>
        <p:nvSpPr>
          <p:cNvPr id="8" name="Card 2"/>
          <p:cNvSpPr/>
          <p:nvPr/>
        </p:nvSpPr>
        <p:spPr>
          <a:xfrm>
            <a:off x="4353458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 txBox="1"/>
          <p:nvPr/>
        </p:nvSpPr>
        <p:spPr>
          <a:xfrm>
            <a:off x="4719218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719218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Test patterns against supporting and contradicting evidence</a:t>
            </a:r>
            <a:endParaRPr lang="en-US" sz="2200" dirty="0"/>
          </a:p>
        </p:txBody>
      </p:sp>
      <p:sp>
        <p:nvSpPr>
          <p:cNvPr id="11" name="Card 3"/>
          <p:cNvSpPr/>
          <p:nvPr/>
        </p:nvSpPr>
        <p:spPr>
          <a:xfrm>
            <a:off x="8158277" y="2057400"/>
            <a:ext cx="3484778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8524037" y="24231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524037" y="3383280"/>
            <a:ext cx="275325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State the limits of causal inference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Cross-case synthesis</a:t>
            </a:r>
            <a:endParaRPr lang="en-US" sz="3200" dirty="0"/>
          </a:p>
        </p:txBody>
      </p:sp>
      <p:sp>
        <p:nvSpPr>
          <p:cNvPr id="5" name="Lead panel"/>
          <p:cNvSpPr/>
          <p:nvPr/>
        </p:nvSpPr>
        <p:spPr>
          <a:xfrm>
            <a:off x="548640" y="1737360"/>
            <a:ext cx="11094415" cy="160020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290" y="2320290"/>
            <a:ext cx="434340" cy="4343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48840" y="1737360"/>
            <a:ext cx="9082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each case account before comparison</a:t>
            </a:r>
            <a:endParaRPr lang="en-US" sz="2600" dirty="0"/>
          </a:p>
        </p:txBody>
      </p:sp>
      <p:sp>
        <p:nvSpPr>
          <p:cNvPr id="9" name="Point 2"/>
          <p:cNvSpPr/>
          <p:nvPr/>
        </p:nvSpPr>
        <p:spPr>
          <a:xfrm>
            <a:off x="548640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umber 2"/>
          <p:cNvSpPr txBox="1"/>
          <p:nvPr/>
        </p:nvSpPr>
        <p:spPr>
          <a:xfrm>
            <a:off x="868680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Compare themes or explanatory patterns across cases</a:t>
            </a:r>
            <a:endParaRPr lang="en-US" sz="2000" dirty="0"/>
          </a:p>
        </p:txBody>
      </p:sp>
      <p:sp>
        <p:nvSpPr>
          <p:cNvPr id="12" name="Point 3"/>
          <p:cNvSpPr/>
          <p:nvPr/>
        </p:nvSpPr>
        <p:spPr>
          <a:xfrm>
            <a:off x="6255868" y="3657600"/>
            <a:ext cx="538718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3" name="Number 3"/>
          <p:cNvSpPr txBox="1"/>
          <p:nvPr/>
        </p:nvSpPr>
        <p:spPr>
          <a:xfrm>
            <a:off x="6575908" y="453999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398868" y="3657600"/>
            <a:ext cx="39241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Preserve meaningful contextual differences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analytic example</a:t>
            </a:r>
            <a:endParaRPr lang="en-US" sz="3200" dirty="0"/>
          </a:p>
        </p:txBody>
      </p:sp>
      <p:sp>
        <p:nvSpPr>
          <p:cNvPr id="5" name="Feature panel"/>
          <p:cNvSpPr/>
          <p:nvPr/>
        </p:nvSpPr>
        <p:spPr>
          <a:xfrm>
            <a:off x="548640" y="1737360"/>
            <a:ext cx="4572000" cy="4251960"/>
          </a:xfrm>
          <a:prstGeom prst="roundRect">
            <a:avLst>
              <a:gd name="adj" fmla="val 322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Quote mar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03120"/>
            <a:ext cx="502920" cy="5029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HYPOTHETICAL EXAMPLE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2880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links uptake to workflow integration and staff support</a:t>
            </a:r>
            <a:endParaRPr lang="en-US" sz="2800" dirty="0"/>
          </a:p>
        </p:txBody>
      </p:sp>
      <p:sp>
        <p:nvSpPr>
          <p:cNvPr id="9" name="Number 2"/>
          <p:cNvSpPr txBox="1"/>
          <p:nvPr/>
        </p:nvSpPr>
        <p:spPr>
          <a:xfrm>
            <a:off x="5623560" y="1920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02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19659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Compare policy documents, interviews and observations</a:t>
            </a:r>
            <a:endParaRPr lang="en-US" sz="2200" dirty="0"/>
          </a:p>
        </p:txBody>
      </p:sp>
      <p:sp>
        <p:nvSpPr>
          <p:cNvPr id="11" name="Number 3"/>
          <p:cNvSpPr txBox="1"/>
          <p:nvPr/>
        </p:nvSpPr>
        <p:spPr>
          <a:xfrm>
            <a:off x="5623560" y="39776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4023360"/>
            <a:ext cx="51508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Examine alternative explanations such as equipment access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Quality and reflexivity</a:t>
            </a:r>
            <a:endParaRPr lang="en-US" sz="3200" dirty="0"/>
          </a:p>
        </p:txBody>
      </p:sp>
      <p:sp>
        <p:nvSpPr>
          <p:cNvPr id="5" name="Check row 1"/>
          <p:cNvSpPr/>
          <p:nvPr/>
        </p:nvSpPr>
        <p:spPr>
          <a:xfrm>
            <a:off x="548640" y="18288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1168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225856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82880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Use criteria consistent with the selected tradition</a:t>
            </a:r>
            <a:endParaRPr lang="en-US" sz="2200" dirty="0"/>
          </a:p>
        </p:txBody>
      </p:sp>
      <p:sp>
        <p:nvSpPr>
          <p:cNvPr id="9" name="Check row 2"/>
          <p:cNvSpPr/>
          <p:nvPr/>
        </p:nvSpPr>
        <p:spPr>
          <a:xfrm>
            <a:off x="548640" y="324612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353415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67588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37360" y="324612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Make boundaries, evidence and interpretations transparent</a:t>
            </a:r>
            <a:endParaRPr lang="en-US" sz="2200" dirty="0"/>
          </a:p>
        </p:txBody>
      </p:sp>
      <p:sp>
        <p:nvSpPr>
          <p:cNvPr id="13" name="Check row 3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68680" y="49514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412" y="50932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37360" y="4663440"/>
            <a:ext cx="953993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Explain researcher access and assumptions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Ethics, strengths and limitations</a:t>
            </a:r>
            <a:endParaRPr lang="en-US" sz="3200" dirty="0"/>
          </a:p>
        </p:txBody>
      </p:sp>
      <p:graphicFrame>
        <p:nvGraphicFramePr>
          <p:cNvPr id="24" name="Ethics, strengths and limitation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9056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spc="200" kern="0" dirty="0">
                          <a:solidFill>
                            <a:schemeClr val="bg1"/>
                          </a:solidFill>
                        </a:rPr>
                        <a:t>KEY POINT</a:t>
                      </a:r>
                      <a:endParaRPr lang="en-US" sz="14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01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Protect a potentially identifiable organization and staff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02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Balance contextual depth with disclosure risk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chemeClr val="accent1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03</a:t>
                      </a:r>
                      <a:endParaRPr lang="en-US" sz="2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Distinguish analytic transferability from population estimates</a:t>
                      </a:r>
                      <a:endParaRPr lang="en-US" sz="2000" dirty="0"/>
                    </a:p>
                  </a:txBody>
                  <a:tcPr marL="274320" marR="274320" marT="73152" marB="73152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Reporting and key takeaways</a:t>
            </a:r>
            <a:endParaRPr lang="en-US" sz="3200" dirty="0"/>
          </a:p>
        </p:txBody>
      </p:sp>
      <p:sp>
        <p:nvSpPr>
          <p:cNvPr id="5" name="Number 1"/>
          <p:cNvSpPr txBox="1"/>
          <p:nvPr/>
        </p:nvSpPr>
        <p:spPr>
          <a:xfrm>
            <a:off x="548640" y="192024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92024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Describe the case, boundaries, methods and context</a:t>
            </a:r>
            <a:endParaRPr lang="en-US" sz="2200" dirty="0"/>
          </a:p>
        </p:txBody>
      </p:sp>
      <p:sp>
        <p:nvSpPr>
          <p:cNvPr id="7" name="Number 2"/>
          <p:cNvSpPr txBox="1"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02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089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</a:rPr>
              <a:t>Integrate evidence into a coherent account</a:t>
            </a:r>
            <a:endParaRPr lang="en-US" sz="2200" dirty="0"/>
          </a:p>
        </p:txBody>
      </p:sp>
      <p:sp>
        <p:nvSpPr>
          <p:cNvPr id="9" name="Discussion prompt"/>
          <p:cNvSpPr/>
          <p:nvPr/>
        </p:nvSpPr>
        <p:spPr>
          <a:xfrm>
            <a:off x="548640" y="4343400"/>
            <a:ext cx="11094415" cy="1645920"/>
          </a:xfrm>
          <a:prstGeom prst="roundRect">
            <a:avLst>
              <a:gd name="adj" fmla="val 8333"/>
            </a:avLst>
          </a:prstGeom>
          <a:solidFill>
            <a:schemeClr val="accent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777740"/>
            <a:ext cx="777240" cy="7772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97205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65960" y="4343400"/>
            <a:ext cx="93113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DISCUSSION PROMPT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 what the case illuminates beyond its immediate setting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548640" y="429768"/>
            <a:ext cx="694944" cy="69494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603504"/>
            <a:ext cx="347472" cy="3474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417320" y="411480"/>
            <a:ext cx="10225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 and further reading</a:t>
            </a:r>
            <a:endParaRPr lang="en-US" sz="3200" dirty="0"/>
          </a:p>
        </p:txBody>
      </p:sp>
      <p:sp>
        <p:nvSpPr>
          <p:cNvPr id="5" name="Reference 1"/>
          <p:cNvSpPr/>
          <p:nvPr/>
        </p:nvSpPr>
        <p:spPr>
          <a:xfrm>
            <a:off x="548640" y="182880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6868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446020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83080" y="182880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Yin. Case Study Research and Applications, 6th ed. SAGE.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3" invalidUrl="" action="" tgtFrame="" tooltip="https://study.sagepub.com/yin6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https://study.sagepub.com/yin6e</a:t>
            </a:r>
            <a:endParaRPr lang="en-US" sz="2000" dirty="0"/>
          </a:p>
        </p:txBody>
      </p:sp>
      <p:sp>
        <p:nvSpPr>
          <p:cNvPr id="9" name="Reference 2"/>
          <p:cNvSpPr/>
          <p:nvPr/>
        </p:nvSpPr>
        <p:spPr>
          <a:xfrm>
            <a:off x="548640" y="3703320"/>
            <a:ext cx="11094415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0" name="Icon circle"/>
          <p:cNvSpPr/>
          <p:nvPr/>
        </p:nvSpPr>
        <p:spPr>
          <a:xfrm>
            <a:off x="868680" y="4160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43205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783080" y="3703320"/>
            <a:ext cx="9494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Creswell &amp; Poth. Qualitative Inquiry and Research Design.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u="sng" dirty="0">
                <a:solidFill>
                  <a:schemeClr val="accent1"/>
                </a:solidFill>
                <a:hlinkClick r:id="rId5" invalidUrl="" action="" tgtFrame="" tooltip="https://us2.sagepub.com/en-us/nam/qualitative-inquiry-and-research-design/book26603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https://us2.sagepub.com/en-us/nam/qualitative-inquiry-and-research-design/book266033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27648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tative Research – Case study">
  <a:themeElements>
    <a:clrScheme name="Qualitative Research – Case study">
      <a:dk1>
        <a:srgbClr val="1F2328"/>
      </a:dk1>
      <a:lt1>
        <a:srgbClr val="FFFFFF"/>
      </a:lt1>
      <a:dk2>
        <a:srgbClr val="59606B"/>
      </a:dk2>
      <a:lt2>
        <a:srgbClr val="E9E9EF"/>
      </a:lt2>
      <a:accent1>
        <a:srgbClr val="1E2761"/>
      </a:accent1>
      <a:accent2>
        <a:srgbClr val="161C46"/>
      </a:accent2>
      <a:accent3>
        <a:srgbClr val="C0C3D3"/>
      </a:accent3>
      <a:accent4>
        <a:srgbClr val="D2D4DF"/>
      </a:accent4>
      <a:accent5>
        <a:srgbClr val="8A929E"/>
      </a:accent5>
      <a:accent6>
        <a:srgbClr val="D9DDE3"/>
      </a:accent6>
      <a:hlink>
        <a:srgbClr val="1E2761"/>
      </a:hlink>
      <a:folHlink>
        <a:srgbClr val="161C46"/>
      </a:folHlink>
    </a:clrScheme>
    <a:fontScheme name="Qualitative Research – Case stud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</dc:title>
  <dc:subject>Qualitative research methods</dc:subject>
  <dc:creator>PptxGenJS</dc:creator>
  <cp:lastModifiedBy>PptxGenJS</cp:lastModifiedBy>
  <cp:revision>1</cp:revision>
  <dcterms:created xsi:type="dcterms:W3CDTF">2026-10-10T16:17:48Z</dcterms:created>
  <dcterms:modified xsi:type="dcterms:W3CDTF">2026-10-10T16:17:48Z</dcterms:modified>
</cp:coreProperties>
</file>