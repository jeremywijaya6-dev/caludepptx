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0f30de1a-a503-0857-314e-7a1a52340ad2}">
          <p14:sldIdLst>
            <p14:sldId id="256"/>
            <p14:sldId id="257"/>
          </p14:sldIdLst>
        </p14:section>
        <p14:section name="Core content" id="{3be51d2f-50d8-3c1d-fa75-a3d536472674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  <p14:section name="Wrap-up" id="{c599e955-0faf-1a53-40dd-c469665c248c}">
          <p14:sldIdLst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Understand lived experience and the meaning of a phenomenon
Core principles, study planning and applied examples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purpose and defining features of phenomenology
Plan sampling, data collection and analysis appropriate to the approach
Evaluate quality, ethics and reporting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Explore how people experience a phenomenon
Describe or interpret its meaning
Focus on experience rather than frequency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intentionality and the lifeworld
Contrast Husserlian description with Heideggerian interpretation
Explain why philosophical commitments shape methods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Descriptive work seeks an account of essential experiential features
Interpretive work examines situated meaning
Name and justify the tradition chosen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Choose an experience shared by participants
Use when meanings remain poorly understood
Avoid questions primarily seeking a process theory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what an experience is like or how it is understood
Specify the phenomenon and population
Avoid imposing predetermined categories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Hypothetical example: living with newly diagnosed glaucoma
Ask how diagnosis changes everyday perception and identity
Keep the focus on lived experience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relevant clinical or personal experience
Examine assumptions about the phenomenon
Record how researcher-participant relationships shape interpretation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Descriptive traditions examine and suspend assumptions where possible
Interpretive traditions critically engage prior understanding
Explain that complete neutrality is not attainable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Recruit people with direct experience of the phenomenon
Use purposive criteria aligned with the question
Consider experiential variation without losing a shared focus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Seek rich experiential accounts
Justify sample size by scope, depth and analytic tradition
Avoid a universal numerical rule or unexamined saturation claim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concrete accounts of particular situations
Probe bodily, temporal and relational experience
Use open prompts without leading explanations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Consider diaries, drawings and written reflections
Explain what each material contributes
Obtain consent for personal artifacts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Transcribe faithfully and de-identify accounts
Preserve contextual details needed for meaning
Re-read each account as a whole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options such as Giorgi, Colaizzi or van Manen
Align procedures with philosophical commitments
Avoid treating different traditions as interchangeable recipes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Identify passages relevant to the phenomenon
Explore how meanings relate across accounts
Keep interpretation anchored in concrete experiences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what was experienced and how it was experienced
Examine shared features and meaningful variation
Use essential structure only where the tradition supports it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Hypothetical excerpt: uncertainty before the next eye examination
Identify altered time and bodily vigilance as possible meanings
Show the interpretive steps without presenting invented results as evidence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Demonstrate methodological coherence and depth
Use rich excerpts and a transparent analytic account
Consider participant feedback where appropriate to the tradition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Anticipate distress when discussing illness or loss
Allow pauses and withdrawal
Protect identity in detailed experiential narratives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tradition, researcher position and analytic choices
Present experiential descriptions supported by excerpts
Relate findings to the phenomenon without claiming prevalence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Provides depth about meaning and experience
Interpretation depends on context and researcher engagement
Avoid relabeling a generic thematic interview study as phenomenology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Align philosophy, question and analytic method
Prioritize concrete lived accounts and reflexivity
Discuss whether an experience question fits this design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Creswell &amp; Poth. Qualitative Inquiry and Research Design, 5th ed. SAGE. https://us2.sagepub.com/en-us/nam/qualitative-inquiry-and-research-design/book266033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88720"/>
            <a:ext cx="694944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3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6949440" cy="1691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611880"/>
            <a:ext cx="65836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4617720"/>
            <a:ext cx="658368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Qualitative Research Methods  ·  Topic 01  ·  Phenomenology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content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Qualitative Research Methods  ·  Topic 01  ·  Phenomenology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us2.sagepub.com/en-us/nam/qualitative-inquiry-and-research-design/book266033" TargetMode="External"/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887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3"/>
                </a:solidFill>
              </a:rPr>
              <a:t>QUALITATIVE RESEARCH METHODS  ·  TOPIC 01 OF 12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6949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Phenomenology</a:t>
            </a: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61188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Understand lived experience and the meaning of a phenomenon</a:t>
            </a:r>
            <a:endParaRPr lang="en-US" sz="22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461772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Core principles, study planning and applied examples</a:t>
            </a:r>
            <a:endParaRPr lang="en-US" sz="1600" dirty="0"/>
          </a:p>
        </p:txBody>
      </p:sp>
      <p:sp>
        <p:nvSpPr>
          <p:cNvPr id="6" name="Halo"/>
          <p:cNvSpPr/>
          <p:nvPr/>
        </p:nvSpPr>
        <p:spPr>
          <a:xfrm>
            <a:off x="7680960" y="1417320"/>
            <a:ext cx="4023360" cy="4023360"/>
          </a:xfrm>
          <a:prstGeom prst="ellipse">
            <a:avLst/>
          </a:prstGeom>
          <a:solidFill>
            <a:schemeClr val="accent2">
              <a:alpha val="45000"/>
            </a:schemeClr>
          </a:solidFill>
          <a:ln/>
        </p:spPr>
      </p:sp>
      <p:sp>
        <p:nvSpPr>
          <p:cNvPr id="7" name="Icon circle"/>
          <p:cNvSpPr/>
          <p:nvPr/>
        </p:nvSpPr>
        <p:spPr>
          <a:xfrm>
            <a:off x="8001000" y="1737360"/>
            <a:ext cx="3383280" cy="33832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8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46820" y="2583180"/>
            <a:ext cx="1691640" cy="1691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Learning objectives</a:t>
            </a:r>
            <a:endParaRPr lang="en-US" sz="3200" dirty="0"/>
          </a:p>
        </p:txBody>
      </p:sp>
      <p:sp>
        <p:nvSpPr>
          <p:cNvPr id="5" name="Objective 1"/>
          <p:cNvSpPr/>
          <p:nvPr/>
        </p:nvSpPr>
        <p:spPr>
          <a:xfrm>
            <a:off x="548640" y="1737360"/>
            <a:ext cx="3484778" cy="4251960"/>
          </a:xfrm>
          <a:prstGeom prst="roundRect">
            <a:avLst>
              <a:gd name="adj" fmla="val 314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914400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570" y="2320290"/>
            <a:ext cx="434340" cy="4343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14400" y="3200400"/>
            <a:ext cx="2753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OBJECTIVE 01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914400" y="3611880"/>
            <a:ext cx="275325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Explain the purpose and defining features of phenomenology</a:t>
            </a:r>
            <a:endParaRPr lang="en-US" sz="2000" dirty="0"/>
          </a:p>
        </p:txBody>
      </p:sp>
      <p:sp>
        <p:nvSpPr>
          <p:cNvPr id="10" name="Objective 2"/>
          <p:cNvSpPr/>
          <p:nvPr/>
        </p:nvSpPr>
        <p:spPr>
          <a:xfrm>
            <a:off x="4353458" y="1737360"/>
            <a:ext cx="3484778" cy="4251960"/>
          </a:xfrm>
          <a:prstGeom prst="roundRect">
            <a:avLst>
              <a:gd name="adj" fmla="val 314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Icon circle"/>
          <p:cNvSpPr/>
          <p:nvPr/>
        </p:nvSpPr>
        <p:spPr>
          <a:xfrm>
            <a:off x="4719218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6388" y="2320290"/>
            <a:ext cx="434340" cy="4343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719218" y="3200400"/>
            <a:ext cx="2753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OBJECTIVE 02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4719218" y="3611880"/>
            <a:ext cx="275325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Plan sampling, data collection and analysis appropriate to the approach</a:t>
            </a:r>
            <a:endParaRPr lang="en-US" sz="2000" dirty="0"/>
          </a:p>
        </p:txBody>
      </p:sp>
      <p:sp>
        <p:nvSpPr>
          <p:cNvPr id="15" name="Objective 3"/>
          <p:cNvSpPr/>
          <p:nvPr/>
        </p:nvSpPr>
        <p:spPr>
          <a:xfrm>
            <a:off x="8158277" y="1737360"/>
            <a:ext cx="3484778" cy="4251960"/>
          </a:xfrm>
          <a:prstGeom prst="roundRect">
            <a:avLst>
              <a:gd name="adj" fmla="val 314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Icon circle"/>
          <p:cNvSpPr/>
          <p:nvPr/>
        </p:nvSpPr>
        <p:spPr>
          <a:xfrm>
            <a:off x="8524037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1207" y="2320290"/>
            <a:ext cx="434340" cy="43434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524037" y="3200400"/>
            <a:ext cx="2753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OBJECTIVE 03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8524037" y="3611880"/>
            <a:ext cx="275325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Evaluate quality, ethics and reporting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Definition and purpose</a:t>
            </a:r>
            <a:endParaRPr lang="en-US" sz="3200" dirty="0"/>
          </a:p>
        </p:txBody>
      </p:sp>
      <p:sp>
        <p:nvSpPr>
          <p:cNvPr id="5" name="Lead panel"/>
          <p:cNvSpPr/>
          <p:nvPr/>
        </p:nvSpPr>
        <p:spPr>
          <a:xfrm>
            <a:off x="548640" y="1737360"/>
            <a:ext cx="11094415" cy="160020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960120" y="210312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290" y="2320290"/>
            <a:ext cx="434340" cy="4343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148840" y="1737360"/>
            <a:ext cx="908273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Explore how people experience a phenomenon</a:t>
            </a:r>
            <a:endParaRPr lang="en-US" sz="2600" dirty="0"/>
          </a:p>
        </p:txBody>
      </p:sp>
      <p:sp>
        <p:nvSpPr>
          <p:cNvPr id="9" name="Point 2"/>
          <p:cNvSpPr/>
          <p:nvPr/>
        </p:nvSpPr>
        <p:spPr>
          <a:xfrm>
            <a:off x="548640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868680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691640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Describe or interpret its meaning</a:t>
            </a:r>
            <a:endParaRPr lang="en-US" sz="2000" dirty="0"/>
          </a:p>
        </p:txBody>
      </p:sp>
      <p:sp>
        <p:nvSpPr>
          <p:cNvPr id="12" name="Point 3"/>
          <p:cNvSpPr/>
          <p:nvPr/>
        </p:nvSpPr>
        <p:spPr>
          <a:xfrm>
            <a:off x="6255868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3" name="Number 3"/>
          <p:cNvSpPr txBox="1"/>
          <p:nvPr/>
        </p:nvSpPr>
        <p:spPr>
          <a:xfrm>
            <a:off x="6575908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7398868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Focus on experience rather than frequency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Philosophical foundations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 txBox="1"/>
          <p:nvPr/>
        </p:nvSpPr>
        <p:spPr>
          <a:xfrm>
            <a:off x="914400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Introduce intentionality and the lifeworld</a:t>
            </a:r>
            <a:endParaRPr lang="en-US" sz="2200" dirty="0"/>
          </a:p>
        </p:txBody>
      </p:sp>
      <p:sp>
        <p:nvSpPr>
          <p:cNvPr id="8" name="Card 2"/>
          <p:cNvSpPr/>
          <p:nvPr/>
        </p:nvSpPr>
        <p:spPr>
          <a:xfrm>
            <a:off x="4353458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 txBox="1"/>
          <p:nvPr/>
        </p:nvSpPr>
        <p:spPr>
          <a:xfrm>
            <a:off x="4719218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719218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Contrast Husserlian description with Heideggerian interpretation</a:t>
            </a:r>
            <a:endParaRPr lang="en-US" sz="2200" dirty="0"/>
          </a:p>
        </p:txBody>
      </p:sp>
      <p:sp>
        <p:nvSpPr>
          <p:cNvPr id="11" name="Card 3"/>
          <p:cNvSpPr/>
          <p:nvPr/>
        </p:nvSpPr>
        <p:spPr>
          <a:xfrm>
            <a:off x="8158277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2" name="Number 3"/>
          <p:cNvSpPr txBox="1"/>
          <p:nvPr/>
        </p:nvSpPr>
        <p:spPr>
          <a:xfrm>
            <a:off x="8524037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524037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Explain why philosophical commitments shape methods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Descriptive and interpretive traditions</a:t>
            </a:r>
            <a:endParaRPr lang="en-US" sz="3200" dirty="0"/>
          </a:p>
        </p:txBody>
      </p:sp>
      <p:graphicFrame>
        <p:nvGraphicFramePr>
          <p:cNvPr id="6" name="Descriptive and interpretive tradition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905695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NO.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KEY POINT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01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Descriptive work seeks an account of essential experiential features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02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Interpretive work examines situated meaning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03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Name and justify the tradition chosen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When to use phenomenology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KEY IDEA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Choose an experience shared by participants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Use when meanings remain poorly understood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Avoid questions primarily seeking a process theory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Formulating the research question</a:t>
            </a:r>
            <a:endParaRPr lang="en-US" sz="3200" dirty="0"/>
          </a:p>
        </p:txBody>
      </p:sp>
      <p:sp>
        <p:nvSpPr>
          <p:cNvPr id="5" name="Number 1"/>
          <p:cNvSpPr txBox="1"/>
          <p:nvPr/>
        </p:nvSpPr>
        <p:spPr>
          <a:xfrm>
            <a:off x="548640" y="18288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18288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Ask what an experience is like or how it is understood</a:t>
            </a:r>
            <a:endParaRPr lang="en-US" sz="2200" dirty="0"/>
          </a:p>
        </p:txBody>
      </p:sp>
      <p:sp>
        <p:nvSpPr>
          <p:cNvPr id="7" name="Number 2"/>
          <p:cNvSpPr txBox="1"/>
          <p:nvPr/>
        </p:nvSpPr>
        <p:spPr>
          <a:xfrm>
            <a:off x="548640" y="32461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324612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Specify the phenomenon and population</a:t>
            </a:r>
            <a:endParaRPr lang="en-US" sz="2200" dirty="0"/>
          </a:p>
        </p:txBody>
      </p:sp>
      <p:sp>
        <p:nvSpPr>
          <p:cNvPr id="9" name="Number 3"/>
          <p:cNvSpPr txBox="1"/>
          <p:nvPr/>
        </p:nvSpPr>
        <p:spPr>
          <a:xfrm>
            <a:off x="548640" y="46634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46634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Avoid imposing predetermined categories</a:t>
            </a:r>
            <a:endParaRPr lang="en-US" sz="2200" dirty="0"/>
          </a:p>
        </p:txBody>
      </p:sp>
      <p:sp>
        <p:nvSpPr>
          <p:cNvPr id="11" name="Visual panel"/>
          <p:cNvSpPr/>
          <p:nvPr/>
        </p:nvSpPr>
        <p:spPr>
          <a:xfrm>
            <a:off x="8275320" y="1783080"/>
            <a:ext cx="3367735" cy="4206240"/>
          </a:xfrm>
          <a:prstGeom prst="roundRect">
            <a:avLst>
              <a:gd name="adj" fmla="val 4073"/>
            </a:avLst>
          </a:prstGeom>
          <a:solidFill>
            <a:schemeClr val="bg2"/>
          </a:solidFill>
          <a:ln/>
        </p:spPr>
      </p:sp>
      <p:sp>
        <p:nvSpPr>
          <p:cNvPr id="12" name="Icon circle"/>
          <p:cNvSpPr/>
          <p:nvPr/>
        </p:nvSpPr>
        <p:spPr>
          <a:xfrm>
            <a:off x="8999068" y="2926080"/>
            <a:ext cx="1920240" cy="1920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9128" y="3406140"/>
            <a:ext cx="960120" cy="960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Illustrative study question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HYPOTHETICAL EXAMPLE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Living with newly diagnosed glaucoma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Ask how diagnosis changes everyday perception and identity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Keep the focus on lived experience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Researcher position and reflexivity</a:t>
            </a:r>
            <a:endParaRPr lang="en-US" sz="3200" dirty="0"/>
          </a:p>
        </p:txBody>
      </p:sp>
      <p:sp>
        <p:nvSpPr>
          <p:cNvPr id="5" name="Check row 1"/>
          <p:cNvSpPr/>
          <p:nvPr/>
        </p:nvSpPr>
        <p:spPr>
          <a:xfrm>
            <a:off x="548640" y="182880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11683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" y="225856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182880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State relevant clinical or personal experience</a:t>
            </a:r>
            <a:endParaRPr lang="en-US" sz="2200" dirty="0"/>
          </a:p>
        </p:txBody>
      </p:sp>
      <p:sp>
        <p:nvSpPr>
          <p:cNvPr id="9" name="Check row 2"/>
          <p:cNvSpPr/>
          <p:nvPr/>
        </p:nvSpPr>
        <p:spPr>
          <a:xfrm>
            <a:off x="548640" y="324612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353415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3675888"/>
            <a:ext cx="283464" cy="28346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37360" y="324612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Examine assumptions about the phenomenon</a:t>
            </a:r>
            <a:endParaRPr lang="en-US" sz="2200" dirty="0"/>
          </a:p>
        </p:txBody>
      </p:sp>
      <p:sp>
        <p:nvSpPr>
          <p:cNvPr id="13" name="Check row 3"/>
          <p:cNvSpPr/>
          <p:nvPr/>
        </p:nvSpPr>
        <p:spPr>
          <a:xfrm>
            <a:off x="548640" y="466344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4" name="Icon circle"/>
          <p:cNvSpPr/>
          <p:nvPr/>
        </p:nvSpPr>
        <p:spPr>
          <a:xfrm>
            <a:off x="868680" y="495147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" y="5093208"/>
            <a:ext cx="283464" cy="28346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37360" y="466344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Record how researcher-participant relationships shape interpretation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Bracketing and prior understanding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KEY IDEA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Descriptive traditions examine and suspend assumptions where possible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Interpretive traditions critically engage prior understanding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Explain that complete neutrality is not attainable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Participant selection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 txBox="1"/>
          <p:nvPr/>
        </p:nvSpPr>
        <p:spPr>
          <a:xfrm>
            <a:off x="914400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Recruit people with direct experience of the phenomenon</a:t>
            </a:r>
            <a:endParaRPr lang="en-US" sz="2200" dirty="0"/>
          </a:p>
        </p:txBody>
      </p:sp>
      <p:sp>
        <p:nvSpPr>
          <p:cNvPr id="8" name="Card 2"/>
          <p:cNvSpPr/>
          <p:nvPr/>
        </p:nvSpPr>
        <p:spPr>
          <a:xfrm>
            <a:off x="4353458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 txBox="1"/>
          <p:nvPr/>
        </p:nvSpPr>
        <p:spPr>
          <a:xfrm>
            <a:off x="4719218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719218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Use purposive criteria aligned with the question</a:t>
            </a:r>
            <a:endParaRPr lang="en-US" sz="2200" dirty="0"/>
          </a:p>
        </p:txBody>
      </p:sp>
      <p:sp>
        <p:nvSpPr>
          <p:cNvPr id="11" name="Card 3"/>
          <p:cNvSpPr/>
          <p:nvPr/>
        </p:nvSpPr>
        <p:spPr>
          <a:xfrm>
            <a:off x="8158277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2" name="Number 3"/>
          <p:cNvSpPr txBox="1"/>
          <p:nvPr/>
        </p:nvSpPr>
        <p:spPr>
          <a:xfrm>
            <a:off x="8524037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524037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Consider experiential variation without losing a shared focus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Sample adequacy</a:t>
            </a:r>
            <a:endParaRPr lang="en-US" sz="3200" dirty="0"/>
          </a:p>
        </p:txBody>
      </p:sp>
      <p:sp>
        <p:nvSpPr>
          <p:cNvPr id="5" name="Flow connector"/>
          <p:cNvSpPr/>
          <p:nvPr/>
        </p:nvSpPr>
        <p:spPr>
          <a:xfrm>
            <a:off x="1463040" y="2606040"/>
            <a:ext cx="6695237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Number 1"/>
          <p:cNvSpPr txBox="1"/>
          <p:nvPr/>
        </p:nvSpPr>
        <p:spPr>
          <a:xfrm>
            <a:off x="548640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Step 1 panel"/>
          <p:cNvSpPr/>
          <p:nvPr/>
        </p:nvSpPr>
        <p:spPr>
          <a:xfrm>
            <a:off x="548640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Seek rich experiential accounts</a:t>
            </a:r>
            <a:endParaRPr lang="en-US" sz="2200" dirty="0"/>
          </a:p>
        </p:txBody>
      </p:sp>
      <p:sp>
        <p:nvSpPr>
          <p:cNvPr id="9" name="Flow gap"/>
          <p:cNvSpPr/>
          <p:nvPr/>
        </p:nvSpPr>
        <p:spPr>
          <a:xfrm>
            <a:off x="4243730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4353458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Step 2 panel"/>
          <p:cNvSpPr/>
          <p:nvPr/>
        </p:nvSpPr>
        <p:spPr>
          <a:xfrm>
            <a:off x="4353458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3498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Justify sample size by scope, depth and analytic tradition</a:t>
            </a:r>
            <a:endParaRPr lang="en-US" sz="2200" dirty="0"/>
          </a:p>
        </p:txBody>
      </p:sp>
      <p:sp>
        <p:nvSpPr>
          <p:cNvPr id="13" name="Flow gap"/>
          <p:cNvSpPr/>
          <p:nvPr/>
        </p:nvSpPr>
        <p:spPr>
          <a:xfrm>
            <a:off x="8048549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8158277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Step 3 panel"/>
          <p:cNvSpPr/>
          <p:nvPr/>
        </p:nvSpPr>
        <p:spPr>
          <a:xfrm>
            <a:off x="8158277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78317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Avoid a universal numerical rule or unexamined saturation claim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Interview design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KEY IDEA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Invite concrete accounts of particular situations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Probe bodily, temporal and relational experience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Use open prompts without leading explanations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Additional experiential materials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 txBox="1"/>
          <p:nvPr/>
        </p:nvSpPr>
        <p:spPr>
          <a:xfrm>
            <a:off x="914400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Consider diaries, drawings and written reflections</a:t>
            </a:r>
            <a:endParaRPr lang="en-US" sz="2200" dirty="0"/>
          </a:p>
        </p:txBody>
      </p:sp>
      <p:sp>
        <p:nvSpPr>
          <p:cNvPr id="8" name="Card 2"/>
          <p:cNvSpPr/>
          <p:nvPr/>
        </p:nvSpPr>
        <p:spPr>
          <a:xfrm>
            <a:off x="4353458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 txBox="1"/>
          <p:nvPr/>
        </p:nvSpPr>
        <p:spPr>
          <a:xfrm>
            <a:off x="4719218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719218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Explain what each material contributes</a:t>
            </a:r>
            <a:endParaRPr lang="en-US" sz="2200" dirty="0"/>
          </a:p>
        </p:txBody>
      </p:sp>
      <p:sp>
        <p:nvSpPr>
          <p:cNvPr id="11" name="Card 3"/>
          <p:cNvSpPr/>
          <p:nvPr/>
        </p:nvSpPr>
        <p:spPr>
          <a:xfrm>
            <a:off x="8158277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2" name="Number 3"/>
          <p:cNvSpPr txBox="1"/>
          <p:nvPr/>
        </p:nvSpPr>
        <p:spPr>
          <a:xfrm>
            <a:off x="8524037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524037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Obtain consent for personal artifacts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Data preparation</a:t>
            </a:r>
            <a:endParaRPr lang="en-US" sz="3200" dirty="0"/>
          </a:p>
        </p:txBody>
      </p:sp>
      <p:sp>
        <p:nvSpPr>
          <p:cNvPr id="5" name="Flow connector"/>
          <p:cNvSpPr/>
          <p:nvPr/>
        </p:nvSpPr>
        <p:spPr>
          <a:xfrm>
            <a:off x="1463040" y="2606040"/>
            <a:ext cx="6695237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Number 1"/>
          <p:cNvSpPr txBox="1"/>
          <p:nvPr/>
        </p:nvSpPr>
        <p:spPr>
          <a:xfrm>
            <a:off x="548640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Step 1 panel"/>
          <p:cNvSpPr/>
          <p:nvPr/>
        </p:nvSpPr>
        <p:spPr>
          <a:xfrm>
            <a:off x="548640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Transcribe faithfully and de-identify accounts</a:t>
            </a:r>
            <a:endParaRPr lang="en-US" sz="2200" dirty="0"/>
          </a:p>
        </p:txBody>
      </p:sp>
      <p:sp>
        <p:nvSpPr>
          <p:cNvPr id="9" name="Flow gap"/>
          <p:cNvSpPr/>
          <p:nvPr/>
        </p:nvSpPr>
        <p:spPr>
          <a:xfrm>
            <a:off x="4243730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4353458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Step 2 panel"/>
          <p:cNvSpPr/>
          <p:nvPr/>
        </p:nvSpPr>
        <p:spPr>
          <a:xfrm>
            <a:off x="4353458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3498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Preserve contextual details needed for meaning</a:t>
            </a:r>
            <a:endParaRPr lang="en-US" sz="2200" dirty="0"/>
          </a:p>
        </p:txBody>
      </p:sp>
      <p:sp>
        <p:nvSpPr>
          <p:cNvPr id="13" name="Flow gap"/>
          <p:cNvSpPr/>
          <p:nvPr/>
        </p:nvSpPr>
        <p:spPr>
          <a:xfrm>
            <a:off x="8048549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8158277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Step 3 panel"/>
          <p:cNvSpPr/>
          <p:nvPr/>
        </p:nvSpPr>
        <p:spPr>
          <a:xfrm>
            <a:off x="8158277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78317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Re-read each account as a whole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Selecting an analytic approach</a:t>
            </a:r>
            <a:endParaRPr lang="en-US" sz="3200" dirty="0"/>
          </a:p>
        </p:txBody>
      </p:sp>
      <p:sp>
        <p:nvSpPr>
          <p:cNvPr id="5" name="Check row 1"/>
          <p:cNvSpPr/>
          <p:nvPr/>
        </p:nvSpPr>
        <p:spPr>
          <a:xfrm>
            <a:off x="548640" y="182880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11683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" y="225856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182880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Describe options such as Giorgi, Colaizzi or van Manen</a:t>
            </a:r>
            <a:endParaRPr lang="en-US" sz="2200" dirty="0"/>
          </a:p>
        </p:txBody>
      </p:sp>
      <p:sp>
        <p:nvSpPr>
          <p:cNvPr id="9" name="Check row 2"/>
          <p:cNvSpPr/>
          <p:nvPr/>
        </p:nvSpPr>
        <p:spPr>
          <a:xfrm>
            <a:off x="548640" y="324612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353415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3675888"/>
            <a:ext cx="283464" cy="28346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37360" y="324612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Align procedures with philosophical commitments</a:t>
            </a:r>
            <a:endParaRPr lang="en-US" sz="2200" dirty="0"/>
          </a:p>
        </p:txBody>
      </p:sp>
      <p:sp>
        <p:nvSpPr>
          <p:cNvPr id="13" name="Check row 3"/>
          <p:cNvSpPr/>
          <p:nvPr/>
        </p:nvSpPr>
        <p:spPr>
          <a:xfrm>
            <a:off x="548640" y="466344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4" name="Icon circle"/>
          <p:cNvSpPr/>
          <p:nvPr/>
        </p:nvSpPr>
        <p:spPr>
          <a:xfrm>
            <a:off x="868680" y="495147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" y="5093208"/>
            <a:ext cx="283464" cy="28346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37360" y="466344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Avoid treating different traditions as interchangeable recipes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Meaning units and experiential patterns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KEY IDEA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Identify passages relevant to the phenomenon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Explore how meanings relate across accounts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Keep interpretation anchored in concrete experiences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Developing an experiential account</a:t>
            </a:r>
            <a:endParaRPr lang="en-US" sz="3200" dirty="0"/>
          </a:p>
        </p:txBody>
      </p:sp>
      <p:sp>
        <p:nvSpPr>
          <p:cNvPr id="5" name="Flow connector"/>
          <p:cNvSpPr/>
          <p:nvPr/>
        </p:nvSpPr>
        <p:spPr>
          <a:xfrm>
            <a:off x="1463040" y="2606040"/>
            <a:ext cx="6695237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Number 1"/>
          <p:cNvSpPr txBox="1"/>
          <p:nvPr/>
        </p:nvSpPr>
        <p:spPr>
          <a:xfrm>
            <a:off x="548640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Step 1 panel"/>
          <p:cNvSpPr/>
          <p:nvPr/>
        </p:nvSpPr>
        <p:spPr>
          <a:xfrm>
            <a:off x="548640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Describe what was experienced and how it was experienced</a:t>
            </a:r>
            <a:endParaRPr lang="en-US" sz="2200" dirty="0"/>
          </a:p>
        </p:txBody>
      </p:sp>
      <p:sp>
        <p:nvSpPr>
          <p:cNvPr id="9" name="Flow gap"/>
          <p:cNvSpPr/>
          <p:nvPr/>
        </p:nvSpPr>
        <p:spPr>
          <a:xfrm>
            <a:off x="4243730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4353458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Step 2 panel"/>
          <p:cNvSpPr/>
          <p:nvPr/>
        </p:nvSpPr>
        <p:spPr>
          <a:xfrm>
            <a:off x="4353458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3498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Examine shared features and meaningful variation</a:t>
            </a:r>
            <a:endParaRPr lang="en-US" sz="2200" dirty="0"/>
          </a:p>
        </p:txBody>
      </p:sp>
      <p:sp>
        <p:nvSpPr>
          <p:cNvPr id="13" name="Flow gap"/>
          <p:cNvSpPr/>
          <p:nvPr/>
        </p:nvSpPr>
        <p:spPr>
          <a:xfrm>
            <a:off x="8048549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8158277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Step 3 panel"/>
          <p:cNvSpPr/>
          <p:nvPr/>
        </p:nvSpPr>
        <p:spPr>
          <a:xfrm>
            <a:off x="8158277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78317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Use essential structure only where the tradition supports it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Worked analytic example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HYPOTHETICAL EXAMPLE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Uncertainty before the next eye examination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Identify altered time and bodily vigilance as possible meanings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Show the interpretive steps without presenting invented results as evidence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Quality and credibility</a:t>
            </a:r>
            <a:endParaRPr lang="en-US" sz="3200" dirty="0"/>
          </a:p>
        </p:txBody>
      </p:sp>
      <p:sp>
        <p:nvSpPr>
          <p:cNvPr id="5" name="Check row 1"/>
          <p:cNvSpPr/>
          <p:nvPr/>
        </p:nvSpPr>
        <p:spPr>
          <a:xfrm>
            <a:off x="548640" y="182880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11683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" y="225856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182880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Demonstrate methodological coherence and depth</a:t>
            </a:r>
            <a:endParaRPr lang="en-US" sz="2200" dirty="0"/>
          </a:p>
        </p:txBody>
      </p:sp>
      <p:sp>
        <p:nvSpPr>
          <p:cNvPr id="9" name="Check row 2"/>
          <p:cNvSpPr/>
          <p:nvPr/>
        </p:nvSpPr>
        <p:spPr>
          <a:xfrm>
            <a:off x="548640" y="324612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353415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3675888"/>
            <a:ext cx="283464" cy="28346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37360" y="324612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Use rich excerpts and a transparent analytic account</a:t>
            </a:r>
            <a:endParaRPr lang="en-US" sz="2200" dirty="0"/>
          </a:p>
        </p:txBody>
      </p:sp>
      <p:sp>
        <p:nvSpPr>
          <p:cNvPr id="13" name="Check row 3"/>
          <p:cNvSpPr/>
          <p:nvPr/>
        </p:nvSpPr>
        <p:spPr>
          <a:xfrm>
            <a:off x="548640" y="466344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4" name="Icon circle"/>
          <p:cNvSpPr/>
          <p:nvPr/>
        </p:nvSpPr>
        <p:spPr>
          <a:xfrm>
            <a:off x="868680" y="495147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" y="5093208"/>
            <a:ext cx="283464" cy="28346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37360" y="466344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Consider participant feedback where appropriate to the tradition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Ethics and sensitive experiences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KEY IDEA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Anticipate distress when discussing illness or loss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Allow pauses and withdrawal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Protect identity in detailed experiential narratives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Reporting the study</a:t>
            </a:r>
            <a:endParaRPr lang="en-US" sz="3200" dirty="0"/>
          </a:p>
        </p:txBody>
      </p:sp>
      <p:sp>
        <p:nvSpPr>
          <p:cNvPr id="5" name="Check row 1"/>
          <p:cNvSpPr/>
          <p:nvPr/>
        </p:nvSpPr>
        <p:spPr>
          <a:xfrm>
            <a:off x="548640" y="182880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11683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" y="225856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182880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Explain tradition, researcher position and analytic choices</a:t>
            </a:r>
            <a:endParaRPr lang="en-US" sz="2200" dirty="0"/>
          </a:p>
        </p:txBody>
      </p:sp>
      <p:sp>
        <p:nvSpPr>
          <p:cNvPr id="9" name="Check row 2"/>
          <p:cNvSpPr/>
          <p:nvPr/>
        </p:nvSpPr>
        <p:spPr>
          <a:xfrm>
            <a:off x="548640" y="324612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353415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3675888"/>
            <a:ext cx="283464" cy="28346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37360" y="324612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Present experiential descriptions supported by excerpts</a:t>
            </a:r>
            <a:endParaRPr lang="en-US" sz="2200" dirty="0"/>
          </a:p>
        </p:txBody>
      </p:sp>
      <p:sp>
        <p:nvSpPr>
          <p:cNvPr id="13" name="Check row 3"/>
          <p:cNvSpPr/>
          <p:nvPr/>
        </p:nvSpPr>
        <p:spPr>
          <a:xfrm>
            <a:off x="548640" y="466344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4" name="Icon circle"/>
          <p:cNvSpPr/>
          <p:nvPr/>
        </p:nvSpPr>
        <p:spPr>
          <a:xfrm>
            <a:off x="868680" y="495147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" y="5093208"/>
            <a:ext cx="283464" cy="28346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37360" y="466344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Relate findings to the phenomenon without claiming prevalence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Strengths, limitations and common errors</a:t>
            </a:r>
            <a:endParaRPr lang="en-US" sz="3200" dirty="0"/>
          </a:p>
        </p:txBody>
      </p:sp>
      <p:graphicFrame>
        <p:nvGraphicFramePr>
          <p:cNvPr id="24" name="Strengths, limitations and common error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905695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NO.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KEY POINT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01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Provides depth about meaning and experience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02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Interpretation depends on context and researcher engagement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03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Avoid relabeling a generic thematic interview study as phenomenology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Key takeaways and discussion</a:t>
            </a:r>
            <a:endParaRPr lang="en-US" sz="3200" dirty="0"/>
          </a:p>
        </p:txBody>
      </p:sp>
      <p:sp>
        <p:nvSpPr>
          <p:cNvPr id="5" name="Number 1"/>
          <p:cNvSpPr txBox="1"/>
          <p:nvPr/>
        </p:nvSpPr>
        <p:spPr>
          <a:xfrm>
            <a:off x="548640" y="1920240"/>
            <a:ext cx="594360" cy="594360"/>
          </a:xfrm>
          <a:prstGeom prst="ellipse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1920240"/>
            <a:ext cx="10180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bg1"/>
                </a:solidFill>
              </a:rPr>
              <a:t>Align philosophy, question and analytic method</a:t>
            </a:r>
            <a:endParaRPr lang="en-US" sz="2200" dirty="0"/>
          </a:p>
        </p:txBody>
      </p:sp>
      <p:sp>
        <p:nvSpPr>
          <p:cNvPr id="7" name="Number 2"/>
          <p:cNvSpPr txBox="1"/>
          <p:nvPr/>
        </p:nvSpPr>
        <p:spPr>
          <a:xfrm>
            <a:off x="548640" y="3108960"/>
            <a:ext cx="594360" cy="594360"/>
          </a:xfrm>
          <a:prstGeom prst="ellipse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02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3108960"/>
            <a:ext cx="10180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bg1"/>
                </a:solidFill>
              </a:rPr>
              <a:t>Prioritize concrete lived accounts and reflexivity</a:t>
            </a:r>
            <a:endParaRPr lang="en-US" sz="2200" dirty="0"/>
          </a:p>
        </p:txBody>
      </p:sp>
      <p:sp>
        <p:nvSpPr>
          <p:cNvPr id="9" name="Discussion prompt"/>
          <p:cNvSpPr/>
          <p:nvPr/>
        </p:nvSpPr>
        <p:spPr>
          <a:xfrm>
            <a:off x="548640" y="4343400"/>
            <a:ext cx="11094415" cy="1645920"/>
          </a:xfrm>
          <a:prstGeom prst="roundRect">
            <a:avLst>
              <a:gd name="adj" fmla="val 8333"/>
            </a:avLst>
          </a:prstGeom>
          <a:solidFill>
            <a:schemeClr val="accent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4777740"/>
            <a:ext cx="777240" cy="77724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990" y="4972050"/>
            <a:ext cx="388620" cy="3886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965960" y="4343400"/>
            <a:ext cx="931133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Bef>
                <a:spcPts val="400"/>
              </a:spcBef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DISCUSSION PROMPT</a:t>
            </a:r>
            <a:endParaRPr lang="en-US" sz="1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 whether an experience question fits this design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References and further reading</a:t>
            </a:r>
            <a:endParaRPr lang="en-US" sz="3200" dirty="0"/>
          </a:p>
        </p:txBody>
      </p:sp>
      <p:sp>
        <p:nvSpPr>
          <p:cNvPr id="5" name="Reference 1"/>
          <p:cNvSpPr/>
          <p:nvPr/>
        </p:nvSpPr>
        <p:spPr>
          <a:xfrm>
            <a:off x="548640" y="1828800"/>
            <a:ext cx="11094415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2860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2446020"/>
            <a:ext cx="320040" cy="3200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83080" y="1828800"/>
            <a:ext cx="94942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Creswell &amp; Poth. Qualitative Inquiry and Research Design, 5th ed. SAGE.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u="sng" dirty="0">
                <a:solidFill>
                  <a:schemeClr val="accent1"/>
                </a:solidFill>
                <a:hlinkClick r:id="rId3" invalidUrl="" action="" tgtFrame="" tooltip="https://us2.sagepub.com/en-us/nam/qualitative-inquiry-and-research-design/book266033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https://us2.sagepub.com/en-us/nam/qualitative-inquiry-and-research-design/book266033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Qualitative Research Methods – Phenomenology">
  <a:themeElements>
    <a:clrScheme name="Qualitative Research Methods – Phenomenology">
      <a:dk1>
        <a:srgbClr val="1F2328"/>
      </a:dk1>
      <a:lt1>
        <a:srgbClr val="FFFFFF"/>
      </a:lt1>
      <a:dk2>
        <a:srgbClr val="59606B"/>
      </a:dk2>
      <a:lt2>
        <a:srgbClr val="F0EAED"/>
      </a:lt2>
      <a:accent1>
        <a:srgbClr val="6D2E46"/>
      </a:accent1>
      <a:accent2>
        <a:srgbClr val="4E2132"/>
      </a:accent2>
      <a:accent3>
        <a:srgbClr val="D6C4CB"/>
      </a:accent3>
      <a:accent4>
        <a:srgbClr val="E2D5DA"/>
      </a:accent4>
      <a:accent5>
        <a:srgbClr val="8A929E"/>
      </a:accent5>
      <a:accent6>
        <a:srgbClr val="D9DDE3"/>
      </a:accent6>
      <a:hlink>
        <a:srgbClr val="6D2E46"/>
      </a:hlink>
      <a:folHlink>
        <a:srgbClr val="4E2132"/>
      </a:folHlink>
    </a:clrScheme>
    <a:fontScheme name="Qualitative Research Methods – Phenomenolog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Phenomenology</dc:title>
  <dc:subject>Qualitative Research Methods</dc:subject>
  <dc:creator>PptxGenJS</dc:creator>
  <cp:lastModifiedBy>PptxGenJS</cp:lastModifiedBy>
  <cp:revision>1</cp:revision>
  <dcterms:created xsi:type="dcterms:W3CDTF">2026-10-10T16:26:02Z</dcterms:created>
  <dcterms:modified xsi:type="dcterms:W3CDTF">2026-10-10T16:26:02Z</dcterms:modified>
</cp:coreProperties>
</file>