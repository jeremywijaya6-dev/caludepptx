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109e750-f3d9-ba23-53c4-0165ae163dbb}">
          <p14:sldIdLst>
            <p14:sldId id="256"/>
            <p14:sldId id="257"/>
          </p14:sldIdLst>
        </p14:section>
        <p14:section name="Core content" id="{b299c40c-4411-5a21-cd5e-eff6da99f9ed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961a7d8d-e9b9-d454-e88f-1732e00ec0da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a bounded case in depth within its real-world context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case study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a bounded case within its context
Integrate multiple sources of evidence
Clarify that case studies may be qualitative, quantitative or mixed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Yin, Stake and Merriam as influential approaches
Contrast explanatory and interpretive emphases
Align the case-study tradition with the research 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may be a person, program, organization, event or process
Specify its unit of analysis
Distinguish the case from participants interviewed within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time, place, activity and organizational limits
State what is included and excluded
Keep boundaries aligned with the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context-dependent how or why questions
Examine a contemporary or otherwise bounded phenomenon in depth
Choose another design if case boundaries have no analytic role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the question to the bounded case
Specify what must be understood or explained
Introduce propositions only where the tradition requires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implementing teleophthalmology at one hospital
Bound the implementation to a defined period and service
Examine organizational influences on 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Intrinsic work prioritizes the particular case
Instrumental work uses a case to understand a broader issue
Collective work examines several cases around an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depth in one case or comparison across cases
Select multiple cases for meaningful conceptual comparison
Avoid treating convenience alone as a full design rationale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Holistic designs study the case as a whole
Embedded designs analyze subunits within the case
Keep subunit findings connected to the overall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critical, typical, unusual or contrasting cases
Explain the logic of selection
Distinguish conceptual selection from statistical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people with different relationships to the case
Select relevant records and observation opportunities
Track missing perspectives or inaccessible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questions, access, sources and collection procedures
Use consistent procedures where comparisons require them
Adapt responsibly to field conditions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interviews, observation, records and artifacts as appropriate
Explain what each source can establish
Do not equate source quantity with automatic credibility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records and preserve source identifiers
Trace claims to evidence and analytic decisions
Separate raw materials from interpretive summaries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detailed account of the case
Examine chronology, patterns and contextual relationships
Analyze discrepant evidence rather than forcing consensus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possible explanations for observed outcomes
Test patterns against supporting and contradicting evidence
State the limits of causal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each case account before comparison
Compare themes or explanatory patterns across cases
Preserve meaningful contextual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evidence links uptake to workflow integration and staff support
Compare policy documents, interviews and observations
Examine alternative explanations such as equipment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criteria consistent with the selected tradition
Make boundaries, evidence and interpretations transparent
Explain researcher access and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a potentially identifiable organization and staff
Balance contextual depth with disclosure risk
Distinguish analytic transferability from population estimates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case, boundaries, methods and context
Integrate evidence into a coherent account
Discuss what the case illuminates beyond its immediate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Yin. Case Study Research and Applications, 6th ed. SAGE. https://study.sagepub.com/yin6e
Creswell &amp; Poth. Qualitative Inquiry and Research Design.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04  ·  Case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04  ·  Case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.sagepub.com/yin6e" TargetMode="External"/><Relationship Id="rId5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04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Case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Examine a bounded case in depth within its real-world context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case study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a bounded case within its context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Integrate multiple sources of evidence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Clarify that case studies may be qualitative, quantitative or mixed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Methodological orientations</a:t>
            </a:r>
            <a:endParaRPr lang="en-US" sz="3200" dirty="0"/>
          </a:p>
        </p:txBody>
      </p:sp>
      <p:graphicFrame>
        <p:nvGraphicFramePr>
          <p:cNvPr id="5" name="Methodological orien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Introduce Yin, Stake and Merriam as influential approaches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Contrast explanatory and interpretive emphases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Align the case-study tradition with the research aim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counts as a case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may be a person, program, organization, event or process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its unit of analysis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the case from participants interviewed within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Bounding the case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time, place, activity and organizational limits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what is included and excluded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boundaries aligned with the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case study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context-dependent how or why questions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a contemporary or otherwise bounded phenomenon in depth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another design if case boundaries have no analytic role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the question to the bounded case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what must be understood or explained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propositions only where the tradition requires them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teleophthalmology at one hospital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Bound the implementation to a defined period and service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organizational influences on adoption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Intrinsic, instrumental and collective cases</a:t>
            </a:r>
            <a:endParaRPr lang="en-US" sz="3200" dirty="0"/>
          </a:p>
        </p:txBody>
      </p:sp>
      <p:graphicFrame>
        <p:nvGraphicFramePr>
          <p:cNvPr id="11" name="Intrinsic, instrumental and collective 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Intrinsic work prioritizes the particular case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Instrumental work uses a case to understand a broader issue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Collective work examines several cases around an issue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Single and multiple-case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depth in one case or comparison across cases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multiple cases for meaningful conceptual comparison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convenience alone as a full design rationale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Holistic and embedded units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Holistic designs study the case as a whole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Embedded designs analyze subunits within the case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subunit findings connected to the overall case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selection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critical, typical, unusual or contrasting cases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logic of selection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conceptual selection from statistical sampling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and document sampling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people with different relationships to the case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Select relevant records and observation opportunities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Track missing perspectives or inaccessible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Case-study protocol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questions, access, sources and collection procedures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consistent procedures where comparisons require them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Adapt responsibly to field conditions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Multiple sources of evidence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Combine interviews, observation, records and artifacts as appropriate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what each source can establish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equate source quantity with automatic credibility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database and chain of evidence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records and preserve source identifiers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claims to evidence and analytic decisions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raw materials from interpretive summaries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Within-case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 a detailed account of the case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chronology, patterns and contextual relationships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discrepant evidence rather than forcing consensus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Explanation building and rival accounts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possible explanations for observed outcomes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patterns against supporting and contradicting evidence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limits of causal inference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Cross-case synthesis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each case account before comparison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themes or explanatory patterns across cases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Preserve meaningful contextual differences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links uptake to workflow integration and staff support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policy documents, interviews and observations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alternative explanations such as equipment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criteria consistent with the selected tradition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boundaries, evidence and interpretations transparent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researcher access and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graphicFrame>
        <p:nvGraphicFramePr>
          <p:cNvPr id="24" name="Ethics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Protect a potentially identifiable organization and staff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Balance contextual depth with disclosure risk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analytic transferability from population estimates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the case, boundaries, methods and context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evidence into a coherent account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the case illuminates beyond its immediate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Yin. Case Study Research and Applications, 6th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study.sagepub.com/yin6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https://study.sagepub.com/yin6e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Methods – Case study">
  <a:themeElements>
    <a:clrScheme name="Qualitative Research Methods – Case study">
      <a:dk1>
        <a:srgbClr val="1F2328"/>
      </a:dk1>
      <a:lt1>
        <a:srgbClr val="FFFFFF"/>
      </a:lt1>
      <a:dk2>
        <a:srgbClr val="59606B"/>
      </a:dk2>
      <a:lt2>
        <a:srgbClr val="E9E9EF"/>
      </a:lt2>
      <a:accent1>
        <a:srgbClr val="1E2761"/>
      </a:accent1>
      <a:accent2>
        <a:srgbClr val="161C46"/>
      </a:accent2>
      <a:accent3>
        <a:srgbClr val="C0C3D3"/>
      </a:accent3>
      <a:accent4>
        <a:srgbClr val="D2D4DF"/>
      </a:accent4>
      <a:accent5>
        <a:srgbClr val="8A929E"/>
      </a:accent5>
      <a:accent6>
        <a:srgbClr val="D9DDE3"/>
      </a:accent6>
      <a:hlink>
        <a:srgbClr val="1E2761"/>
      </a:hlink>
      <a:folHlink>
        <a:srgbClr val="161C46"/>
      </a:folHlink>
    </a:clrScheme>
    <a:fontScheme name="Qualitative Research Methods – Cas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</dc:title>
  <dc:subject>Qualitative Research Methods</dc:subject>
  <dc:creator>PptxGenJS</dc:creator>
  <cp:lastModifiedBy>PptxGenJS</cp:lastModifiedBy>
  <cp:revision>1</cp:revision>
  <dcterms:created xsi:type="dcterms:W3CDTF">2026-10-10T16:26:02Z</dcterms:created>
  <dcterms:modified xsi:type="dcterms:W3CDTF">2026-10-10T16:26:02Z</dcterms:modified>
</cp:coreProperties>
</file>