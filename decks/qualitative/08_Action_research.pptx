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9c3563f-be8d-1067-893e-c60e56735083}">
          <p14:sldIdLst>
            <p14:sldId id="256"/>
            <p14:sldId id="257"/>
          </p14:sldIdLst>
        </p14:section>
        <p14:section name="Core content" id="{c0e3833e-0798-465a-d5a0-fdd8aa42596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011937aa-31ba-4574-e97b-3cfbce800ad4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Improve a local practice through systematic cycles of inquiry and reflection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action research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practice while attempting to improve it
Connect action with systematic observation and reflection
Explain that action research may use qualitative, quantitative or mixed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iterative inquiry associated with Lewin
Compare practical, collaborative and critical orientations
Explain how aims shape participation and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action research with routine quality improvement and evaluation
Explain the role of systematic inquiry and learning
Recognize overlap and context-dependent 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involve inquiry linked to change
PAR explicitly foregrounds shared ownership by affected people
State the actual level of participation instead of relying on a label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a local practice problem that can be acted on
Ensure access to implementation and observation
Assess whether iterative learning is feasible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Gather initial evidence of the problem
Include practitioners' and users' perspectives
Separate assumptions from documented concerns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an improvement goal to an inquiry question
Ask what happens when a defined change is introduced
Define the setting and intended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improving clarity of glaucoma education
Ask how a revised consultation guide changes communication
Examine patient and staff experiences of the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practice context and project team
Clarify practitioner and researcher responsibilities
Record who decides what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existing practice before intervention
Collect interviews, documents or available measures
Use baseline evidence to refine the first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action, rationale and resources
Agree what evidence will be collected
Set criteria for revising or stopping the activity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 the agreed practice change
Document fidelity and adaptations
Record practical constraints as data for reflection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evidence of experiences, behavior and consequences
Capture unintended effects and contextual changes
Avoid relying only on practitioner impressions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intended and observed effects
Discuss explanations and alternative actions
Document how reflection changes the next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 the action based on prior learning
Keep the inquiry question coherent as practice evolves
Explain why cycles differ rather than presenting a fixed recipe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interviews, group discussions, journals and observation
Ask about usability and contextual barriers
Align collection timing with each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service indicators or surveys where relevant
State definitions and limitations of measures
Treat counts as supporting evidence rather than automatic causal 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each cycle and compare patterns over time
Link evidence to specific adaptations
Examine alternative explanations for observed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how investment in success shapes interpretation
Keep reflective records of decisions and tensions
Seek critical perspectives beyond the project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first cycle reveals an education guide is too technical
A revised version is tested in a second cycle
Compare feedback without inventing evidence of effectiveness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power relationships with patients, staff or students
Explain permissions for service changes and research data
Recognize local scope and limits on causal attribution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problem, actions, evidence, reflection and revisions
Distinguish implementation outcomes from research learning
Discuss what can transfer to another practice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Kemmis, McTaggart &amp; Nixon. The Action Research Planner: Doing Critical Participatory Action Research. Springer. https://link.springer.com/book/10.1007/978-981-4560-67-2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08  · 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08  ·  Action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981-4560-67-2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08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Action research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Improve a local practice through systematic cycles of inquiry and reflection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action research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practice while attempting to improve it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Connect action with systematic observation and reflection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action research may use qualitative, quantitative or mixed methods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Roots and orientations</a:t>
            </a:r>
            <a:endParaRPr lang="en-US" sz="3200" dirty="0"/>
          </a:p>
        </p:txBody>
      </p:sp>
      <p:graphicFrame>
        <p:nvGraphicFramePr>
          <p:cNvPr id="5" name="Roots and orien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Introduce iterative inquiry associated with Lewin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practical, collaborative and critical orientations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how aims shape participation and evidence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Distinguishing adjacent activities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action research with routine quality improvement and evaluation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role of systematic inquiry and learning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overlap and context-dependent boundaries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Action research and PAR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involve inquiry linked to change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PAR explicitly foregrounds shared ownership by affected people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State the actual level of participation instead of relying on a label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action research fits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for a local practice problem that can be acted 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Ensure access to implementation and observation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iterative learning is feasible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Identifying the practice problem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Gather initial evidence of the problem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Include practitioners' and users' perspectives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Separate assumptions from documented concerns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an improvement goal to an inquiry question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happens when a defined change is introduced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setting and intended learning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clarity of glaucoma education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a revised consultation guide changes communication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patient and staff experiences of the change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Setting, team and roles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practice context and project team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Clarify practitioner and researcher responsibilities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who decides what changes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 inquiry</a:t>
            </a:r>
            <a:endParaRPr lang="en-US" sz="3200" dirty="0"/>
          </a:p>
        </p:txBody>
      </p:sp>
      <p:graphicFrame>
        <p:nvGraphicFramePr>
          <p:cNvPr id="13" name="Baseline inqui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Observe existing practice before intervention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Collect interviews, documents or available measures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baseline evidence to refine the first action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Planning the first cycle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action, rationale and resources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Agree what evidence will be collected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Set criteria for revising or stopping the activity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Taking action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the agreed practice change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Document fidelity and adaptations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practical constraints as data for reflection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Observing the effects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Collect evidence of experiences, behavior and consequences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Capture unintended effects and contextual changes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relying only on practitioner impressions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Reflecting and revising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intended and observed effects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Discuss explanations and alternative actions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how reflection changes the next plan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Designing subsequent cycles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Revise the action based on prior learning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the inquiry question coherent as practice evolves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cycles differ rather than presenting a fixed recipe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Qualitative data collection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interviews, group discussions, journals and observation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about usability and contextual barriers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Align collection timing with each cycle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complementary measures</a:t>
            </a:r>
            <a:endParaRPr lang="en-US" sz="3200" dirty="0"/>
          </a:p>
        </p:txBody>
      </p:sp>
      <p:graphicFrame>
        <p:nvGraphicFramePr>
          <p:cNvPr id="20" name="Using complementary meas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 service indicators or surveys where relevant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State definitions and limitations of measures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Treat counts as supporting evidence rather than automatic causal proof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Analysis across cycles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each cycle and compare patterns over time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Link evidence to specific adaptations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alternative explanations for observed change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Practitioner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how investment in success shapes interpretation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reflective records of decisions and tensions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Seek critical perspectives beyond the project team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project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cycle reveals an education guide is too technical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revised version is tested in a second cycle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feedback without inventing evidence of effectiveness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quality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Manage power relationships with patients, staff or students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permissions for service changes and research data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local scope and limits on causal attribution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problem, actions, evidence, reflection and revisions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Distinguish implementation outcomes from research learning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can transfer to another practice setting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Kemmis, McTaggart &amp; Nixon. The Action Research Planner: Doing Critical Participatory Action Research. Springer.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link.springer.com/book/10.1007/978-981-4560-67-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https://link.springer.com/book/10.1007/978-981-4560-67-2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Action research">
  <a:themeElements>
    <a:clrScheme name="Qualitative Research Methods – Action research">
      <a:dk1>
        <a:srgbClr val="1F2328"/>
      </a:dk1>
      <a:lt1>
        <a:srgbClr val="FFFFFF"/>
      </a:lt1>
      <a:dk2>
        <a:srgbClr val="59606B"/>
      </a:dk2>
      <a:lt2>
        <a:srgbClr val="EDF0E9"/>
      </a:lt2>
      <a:accent1>
        <a:srgbClr val="4A6526"/>
      </a:accent1>
      <a:accent2>
        <a:srgbClr val="35491B"/>
      </a:accent2>
      <a:accent3>
        <a:srgbClr val="CCD4C2"/>
      </a:accent3>
      <a:accent4>
        <a:srgbClr val="DBE0D4"/>
      </a:accent4>
      <a:accent5>
        <a:srgbClr val="8A929E"/>
      </a:accent5>
      <a:accent6>
        <a:srgbClr val="D9DDE3"/>
      </a:accent6>
      <a:hlink>
        <a:srgbClr val="4A6526"/>
      </a:hlink>
      <a:folHlink>
        <a:srgbClr val="35491B"/>
      </a:folHlink>
    </a:clrScheme>
    <a:fontScheme name="Qualitative Research Methods – Action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research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