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4e7352-96cd-7e2f-6e9f-859ccedc0282}">
          <p14:sldIdLst>
            <p14:sldId id="256"/>
            <p14:sldId id="257"/>
          </p14:sldIdLst>
        </p14:section>
        <p14:section name="Core content" id="{c4db68de-9ee9-1e76-9784-cee7913f908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197e240d-63df-6418-6828-d77a309b02dc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 group of cases with consistent selection and outcome reporting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several patients sharing a condition or clinical feature
Summarize presentations, management and outcomes
Usually provide descriptive evidence without a concurrent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report focuses on one patient
A series describes a group with common features
Exposure-defined follow-up with risk estimation may be better classified as a cohort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rare presentations, early experience or safety signals
Assess whether a defined group can answer a descriptive question
Choose a comparative design for treatment-effect estimation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condition, setting and descriptive outcome
Define the period covered
Avoid wording that assumes an intervention caused the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Prospective collection plans observations before follow-up
Retrospective collection uses existing records
Both require explicit selection and measurement procedures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consistent diagnostic and inclusion criteria
State exclusions and why they matter
Decide whether the unit is a patient, eye, procedure or episode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consecutive or complete eligible cases when feasible
Explain how cases were identified
Report omissions and reasons for exclusion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unusual optic nerve findings at one referral center
Describe all eligible cases over a defined period
Avoid presenting the center's experience as a population frequency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service level, catchment and referral patterns
Explain why severe or unusual cases may be overrepresented
Record changes in case ascertainment over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available or planned series relative to its objective
Small series yield imprecise summaries
Avoid applying a universal minimum case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predefined form and variable definitions
Verify key fields against source records
Resolve ambiguous or inconsistent documentation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age, clinical features and relevant comorbidities
Report distributions appropriate to the sample
Keep denominators visible for every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common and differing presentations
Explain diagnostic criteria and verification
Report uncertain diagnoses separately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treatments and why patients received them
Record variations in management
Recognize confounding by indication if outcomes are compared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outcomes and assessment windows
Report follow-up completeness and variation
Distinguish patients with no event from patients with unknown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counts, proportions and suitable summaries of continuous data
State the denominator for each measure
Avoid unsupported comparative or causal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missingness for key variables
Explain complete-case summaries and their limits
Consider how incomplete records affect the descriptive account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series includes 12 cases with documented outcomes in 10
If 3 improved, report 3 of 10 among those assessed
Do not silently treat the 2 unknown outcomes as failures or successes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preferential inclusion of severe or successful cases
Examine inconsistent measurement and retrospective coding
Explain how consecutive selection reduces some selection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proportion within the series describes that selected group
It is not a population incidence estimate without an appropriate population denominator
Exploratory subgroup differences require cautious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confidentiality across potentially identifiable cases
Follow applicable approvals and publication consent requirements
Use JBI appraisal questions to examine selection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eligibility, case flow, clinical details and follow-up clearly
Use the series to identify patterns and hypotheses
Discuss what a comparator or larger dataset would 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JBI Critical Appraisal Checklist for Case Series. https://jbi.global/sites/default/files/2020-07/Checklist_for_Case_Series_0.pdf
CDC Field Epidemiology Manual: Designing and Conducting Analytic Studies in the Field. https://www.cdc.gov/field-epi-manual/php/chapters/design-conduct-analyze-field-studies.html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02  ·  Case series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02  ·  Case series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jbi.global/sites/default/files/2020-07/Checklist_for_Case_Series_0.pdf" TargetMode="External"/><Relationship Id="rId5" Type="http://schemas.openxmlformats.org/officeDocument/2006/relationships/hyperlink" Target="https://www.cdc.gov/field-epi-manual/php/chapters/design-conduct-analyze-field-studies.html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02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Case series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Describe a group of cases with consistent selection and outcome reporting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several patients sharing a condition or clinical feature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Summarize presentations, management and outcomes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Usually provide descriptive evidence without a concurrent comparator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series versus neighboring designs</a:t>
            </a:r>
            <a:endParaRPr lang="en-US" sz="3200" dirty="0"/>
          </a:p>
        </p:txBody>
      </p:sp>
      <p:graphicFrame>
        <p:nvGraphicFramePr>
          <p:cNvPr id="5" name="Case series versus neighboring desig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case report focuses on one patient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series describes a group with common features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Exposure-defined follow-up with risk estimation may be better classified as a cohort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 case series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rare presentations, early experience or safety signals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a defined group can answer a descriptive question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comparative design for treatment-effect estimation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objective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the condition, setting and descriptive outcome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period covered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wording that assumes an intervention caused the findings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Prospective and retrospective collection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Prospective collection plans observations before follow-up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Retrospective collection uses existing records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Both require explicit selection and measurement procedures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eligible cases</a:t>
            </a:r>
            <a:endParaRPr lang="en-US" sz="3200" dirty="0"/>
          </a:p>
        </p:txBody>
      </p:sp>
      <p:graphicFrame>
        <p:nvGraphicFramePr>
          <p:cNvPr id="9" name="Defining eligible 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consistent diagnostic and inclusion criteria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exclusions and why they matter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Decide whether the unit is a patient, eye, procedure or episode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Consecutive and complete inclusion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consecutive or complete eligible cases when feasible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cases were identified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omissions and reasons for exclusion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scenario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Unusual optic nerve findings at one referral center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all eligible cases over a defined period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presenting the center's experience as a population frequency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Setting and referral pathways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service level, catchment and referral patterns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severe or unusual cases may be overrepresented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case ascertainment over time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and scope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the available or planned series relative to its objective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Small series yield imprecise summaries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applying a universal minimum case count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Standardizing data extraction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 predefined form and variable definitions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Verify key fields against source records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Resolve ambiguous or inconsistent documentation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characteristics</a:t>
            </a:r>
            <a:endParaRPr lang="en-US" sz="3200" dirty="0"/>
          </a:p>
        </p:txBody>
      </p:sp>
      <p:graphicFrame>
        <p:nvGraphicFramePr>
          <p:cNvPr id="15" name="Baseline character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age, clinical features and relevant comorbidities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Report distributions appropriate to the sample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Keep denominators visible for every summary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Clinical presentation and diagnosis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Summarize common and differing presentations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diagnostic criteria and verification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uncertain diagnoses separately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Management and co-interventions</a:t>
            </a:r>
            <a:endParaRPr lang="en-US" sz="3200" dirty="0"/>
          </a:p>
        </p:txBody>
      </p:sp>
      <p:graphicFrame>
        <p:nvGraphicFramePr>
          <p:cNvPr id="17" name="Management and co-interven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treatments and why patients received them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Record variations in management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confounding by indication if outcomes are compared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Outcomes and follow-up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outcomes and assessment windows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follow-up completeness and variation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patients with no event from patients with unknown status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statistical analysis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counts, proportions and suitable summaries of continuous data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denominator for each measure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unsupported comparative or causal inference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Missing data and exclusions</a:t>
            </a:r>
            <a:endParaRPr lang="en-US" sz="3200" dirty="0"/>
          </a:p>
        </p:txBody>
      </p:sp>
      <p:graphicFrame>
        <p:nvGraphicFramePr>
          <p:cNvPr id="20" name="Missing data and exclu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Report missingness for key variables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complete-case summaries and their limits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how incomplete records affect the descriptive account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descriptive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includes 12 cases with documented outcomes in 10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If 3 improved, report 3 of 10 among those assessed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silently treat the 2 unknown outcomes as failures or successes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Selection and information bias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preferential inclusion of severe or successful cases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inconsistent measurement and retrospective coding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consecutive selection reduces some selection concerns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Interpreting proportions and comparisons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proportion within the series describes that selected group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is not a population incidence estimate without an appropriate population denominator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Exploratory subgroup differences require cautious interpretation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critical appraisal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confidentiality across potentially identifiable cases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Follow applicable approvals and publication consent requirements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JBI appraisal questions to examine selection and reporting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eligibility, case flow, clinical details and follow-up clearly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 the series to identify patterns and hypotheses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a comparator or larger dataset would add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JBI Critical Appraisal Checklist for Case Series.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jbi.global/sites/default/files/2020-07/Checklist_for_Case_Series_0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https://jbi.global/sites/default/files/2020-07/Checklist_for_Case_Series_0.pdf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CDC Field Epidemiology Manual: Designing and Conducting Analytic Studies in the Field.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dc.gov/field-epi-manual/php/chapters/design-conduct-analyze-field-studie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https://www.cdc.gov/field-epi-manual/php/chapters/design-conduct-analyze-field-studies.html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ase series">
  <a:themeElements>
    <a:clrScheme name="Quantitative Research Methods – Case series">
      <a:dk1>
        <a:srgbClr val="1F2328"/>
      </a:dk1>
      <a:lt1>
        <a:srgbClr val="FFFFFF"/>
      </a:lt1>
      <a:dk2>
        <a:srgbClr val="59606B"/>
      </a:dk2>
      <a:lt2>
        <a:srgbClr val="F3EDE7"/>
      </a:lt2>
      <a:accent1>
        <a:srgbClr val="8A4F0F"/>
      </a:accent1>
      <a:accent2>
        <a:srgbClr val="63390B"/>
      </a:accent2>
      <a:accent3>
        <a:srgbClr val="DECEBC"/>
      </a:accent3>
      <a:accent4>
        <a:srgbClr val="E8DCCF"/>
      </a:accent4>
      <a:accent5>
        <a:srgbClr val="8A929E"/>
      </a:accent5>
      <a:accent6>
        <a:srgbClr val="D9DDE3"/>
      </a:accent6>
      <a:hlink>
        <a:srgbClr val="8A4F0F"/>
      </a:hlink>
      <a:folHlink>
        <a:srgbClr val="63390B"/>
      </a:folHlink>
    </a:clrScheme>
    <a:fontScheme name="Quantitative Research Methods – Case seri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series</dc:title>
  <dc:subject>Quantitative Research Methods</dc:subject>
  <dc:creator>PptxGenJS</dc:creator>
  <cp:lastModifiedBy>PptxGenJS</cp:lastModifiedBy>
  <cp:revision>1</cp:revision>
  <dcterms:created xsi:type="dcterms:W3CDTF">2026-10-10T16:27:34Z</dcterms:created>
  <dcterms:modified xsi:type="dcterms:W3CDTF">2026-10-10T16:27:34Z</dcterms:modified>
</cp:coreProperties>
</file>