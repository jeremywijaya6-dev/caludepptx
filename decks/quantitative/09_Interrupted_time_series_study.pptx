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68ad135-75fd-f6c9-6d11-fc30027f441a}">
          <p14:sldIdLst>
            <p14:sldId id="256"/>
            <p14:sldId id="257"/>
          </p14:sldIdLst>
        </p14:section>
        <p14:section name="Core content" id="{d0670472-f5b5-2579-892d-7c631ba8e7f3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2ff881bb-7d62-99ed-39cb-8668c22073a5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Estimate changes in outcome level or trend following a clearly timed intervention
Core concepts, study planning, analysis and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structure of the design
Plan sampling, measurement and appropriate analysis
Assess bias, interpretation,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repeated outcome observations before and after an intervention
Specify when the intervention occurred
Compare post-intervention observations with a modeled counterfactual trend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ITS explicitly models the existing outcome trend
Multiple observations allow evaluation of level and slope changes
A single before and after measurement cannot establish a time-series trend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policies or service changes introduced at a defined time
Require sufficiently frequent and reliable observations
Consider control series when contemporaneous changes threaten inference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intervention, outcome, population and expected timing of response
Define level change, trend change or another impact pattern
Prespecify the main effect model where possible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monthly clinic attendance after reminder-system rollout
Examine existing trends and calendar effects
Avoid attributing an unrelated seasonal rise to implementation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 announcement, rollout and actual implementation dates
Consider anticipation, phased implementation and lagged effects
Explain which date or transition period the model uses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consistent repeated measurements with stable definitions
Check denominators for rates or proportions
Record changes in reporting systems and coverage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intervals suited to the outcome and expected effect
Include enough pre and post observations to model relevant patterns
Avoid treating a minimal eligibility threshold as evidence of sufficient power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number of time points, variability, autocorrelation and expected effect
Account for seasonality and model complexity
More participants within one point do not replace adequate temporal information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Plot all observations and the intervention date
Inspect missing periods, outliers and background patterns
Keep exploratory impressions separate from prespecified inference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immediate level change, slope change, delayed response and temporary effects
Use substantive knowledge to choose the primary model
Avoid selecting the model solely for statistical significance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baseline level and pre-intervention trend
Add terms for the intervention and time after intervention when appropriate
Match the link function to the outcome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immediate departure from the projected counterfactual
State the scale and timing of the estimate
Consider whether immediate change is plausible for the intervention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post-intervention change in trend relative to baseline
Distinguish trend change from the total effect at a later time
Report units per interval clearly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 relevant model terms for the prespecified time point
Compare predicted observed and counterfactual outcomes
Include uncertainty in the derived contrast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Successive observations may have correlated errors
Check temporal dependence with appropriate diagnostics
Use models or error structures that address relevant autocorrelation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recurring calendar effects when relevant
Assess whether a linear trend is defensible
Avoid overfitting with too few time points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 policies, disruptions and other interventions near the interruption
Consider whether they can explain the observed change
Recognize that an uncontrolled series cannot separate every simultaneous event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an appropriate unexposed outcome or population series
Compare changes while accounting for baseline differences in trends
State assumptions about shared external influences and contamination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Inspect residuals, outliers and alternative plausible timing assumptions
Test sensitivity to transition periods and influential points
Report planned and exploratory analyses distinctly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model suggests an immediate 8-percentage-point attendance increase with no clear slope change
Discuss uncertainty, seasonality and concurrent events
Follow applicable data-use and intervention-review requirements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dates, observation counts, impact model and dependence adjustments
Present observed and counterfactual trajectories with uncertainty
Discuss why a plausible time trend is essential to inference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Lopez Bernal J, Cummins S, Gasparrini A. Interrupted time series regression for the evaluation of public health interventions: a tutorial. International Journal of Epidemiology. 2017;46:348-355. https://doi.org/10.1093/ije/dyw098
Cochrane Handbook, Chapter 25: Assessing risk of bias in a non-randomized study. https://www.cochrane.org/authors/handbooks-and-manuals/handbook/current/chapter-25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Quantitative Research Methods  ·  Topic 09  ·  Interrupted time-series study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Quantitative Research Methods  ·  Topic 09  ·  Interrupted time-series study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93/ije/dyw098" TargetMode="External"/><Relationship Id="rId5" Type="http://schemas.openxmlformats.org/officeDocument/2006/relationships/hyperlink" Target="https://www.cochrane.org/authors/handbooks-and-manuals/handbook/current/chapter-25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QUANTITATIVE RESEARCH METHODS  ·  TOPIC 09 OF 11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Interrupted time-series study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Estimate changes in outcome level or trend following a clearly timed intervention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concepts, study planning, analysis and interpretation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structure of the design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measurement and appropriate analysis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Assess bias, interpretation,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temporal structure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repeated outcome observations before and after an intervention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Specify when the intervention occurred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Compare post-intervention observations with a modeled counterfactual trend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ITS versus a simple pre-post study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ITS explicitly models the existing outcome trend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Multiple observations allow evaluation of level and slope changes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 single before and after measurement cannot establish a time-series trend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the design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for policies or service changes introduced at a defined time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Require sufficiently frequent and reliable observations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Consider control series when contemporaneous changes threaten inference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Specify intervention, outcome, population and expected timing of response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level change, trend change or another impact pattern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Prespecify the main effect model where possible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monthly clinic attendance after reminder-system rollout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existing trends and calendar effects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attributing an unrelated seasonal rise to implementation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Defining the interruption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Document announcement, rollout and actual implementation dates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anticipation, phased implementation and lagged effects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which date or transition period the model uses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Selecting outcome data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consistent repeated measurements with stable definitions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Check denominators for rates or proportions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Record changes in reporting systems and coverage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Frequency and observation window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Choose intervals suited to the outcome and expected effect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Include enough pre and post observations to model relevant patterns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treating a minimal eligibility threshold as evidence of sufficient power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Sample size and power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number of time points, variability, autocorrelation and expected effect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Account for seasonality and model complexity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More participants within one point do not replace adequate temporal information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Exploratory visualization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Plot all observations and the intervention date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Inspect missing periods, outliers and background patterns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Keep exploratory impressions separate from prespecified inference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Defining the impact model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immediate level change, slope change, delayed response and temporary effects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substantive knowledge to choose the primary model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selecting the model solely for statistical significance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Segmented regression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Model baseline level and pre-intervention trend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Add terms for the intervention and time after intervention when appropriate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Match the link function to the outcome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Interpreting level change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Describe the immediate departure from the projected counterfactual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State the scale and timing of the estimate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whether immediate change is plausible for the intervention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Interpreting slope change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Describe the post-intervention change in trend relative to baseline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trend change from the total effect at a later time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Report units per interval clearly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Estimating effects at a chosen horizon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Combine relevant model terms for the prespecified time point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predicted observed and counterfactual outcomes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Include uncertainty in the derived contrast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Autocorrelation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Successive observations may have correlated errors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Check temporal dependence with appropriate diagnostics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models or error structures that address relevant autocorrelation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Seasonality and nonlinear patterns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Model recurring calendar effects when relevant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Assess whether a linear trend is defensible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overfitting with too few time points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Time-varying confounding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Record policies, disruptions and other interventions near the interruption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whether they can explain the observed change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Recognize that an uncontrolled series cannot separate every simultaneous event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Controlled ITS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Add an appropriate unexposed outcome or population series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changes while accounting for baseline differences in trends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State assumptions about shared external influences and contamination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Model checks and sensitivity analyses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Inspect residuals, outliers and alternative plausible timing assumptions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Test sensitivity to transition periods and influential points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Report planned and exploratory analyses distinctly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interpretation and ethics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suggests an immediate 8-percentage-point attendance increase with no clear slope change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Discuss uncertainty, seasonality and concurrent events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Follow applicable data-use and intervention-review requirements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Reporting, strengths and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Report dates, observation counts, impact model and dependence adjustments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Present observed and counterfactual trajectories with uncertainty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why a plausible time trend is essential to inference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Lopez Bernal J, Cummins S, Gasparrini A. Interrupted time series regression for the evaluation of public health interventions: a tutorial. International Journal of Epidemiology. 2017;46:348-355.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doi.org/10.1093/ije/dyw098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https://doi.org/10.1093/ije/dyw098</a:t>
            </a:r>
            <a:endParaRPr lang="en-US" sz="2000" dirty="0"/>
          </a:p>
        </p:txBody>
      </p:sp>
      <p:sp>
        <p:nvSpPr>
          <p:cNvPr id="9" name="Reference 2"/>
          <p:cNvSpPr/>
          <p:nvPr/>
        </p:nvSpPr>
        <p:spPr>
          <a:xfrm>
            <a:off x="548640" y="370332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205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70332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Cochrane Handbook, Chapter 25: Assessing risk of bias in a non-randomized study.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5" invalidUrl="" action="" tgtFrame="" tooltip="https://www.cochrane.org/authors/handbooks-and-manuals/handbook/current/chapter-25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https://www.cochrane.org/authors/handbooks-and-manuals/handbook/current/chapter-25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titative Research Methods – Interrupted time-series study">
  <a:themeElements>
    <a:clrScheme name="Quantitative Research Methods – Interrupted time-series study">
      <a:dk1>
        <a:srgbClr val="1F2328"/>
      </a:dk1>
      <a:lt1>
        <a:srgbClr val="FFFFFF"/>
      </a:lt1>
      <a:dk2>
        <a:srgbClr val="59606B"/>
      </a:dk2>
      <a:lt2>
        <a:srgbClr val="E7F0F1"/>
      </a:lt2>
      <a:accent1>
        <a:srgbClr val="0F6A73"/>
      </a:accent1>
      <a:accent2>
        <a:srgbClr val="0B4C53"/>
      </a:accent2>
      <a:accent3>
        <a:srgbClr val="BCD5D8"/>
      </a:accent3>
      <a:accent4>
        <a:srgbClr val="CFE1E3"/>
      </a:accent4>
      <a:accent5>
        <a:srgbClr val="8A929E"/>
      </a:accent5>
      <a:accent6>
        <a:srgbClr val="D9DDE3"/>
      </a:accent6>
      <a:hlink>
        <a:srgbClr val="0F6A73"/>
      </a:hlink>
      <a:folHlink>
        <a:srgbClr val="0B4C53"/>
      </a:folHlink>
    </a:clrScheme>
    <a:fontScheme name="Quantitative Research Methods – Interrupted time-series stud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Interrupted time-series study</dc:title>
  <dc:subject>Quantitative Research Methods</dc:subject>
  <dc:creator>PptxGenJS</dc:creator>
  <cp:lastModifiedBy>PptxGenJS</cp:lastModifiedBy>
  <cp:revision>1</cp:revision>
  <dcterms:created xsi:type="dcterms:W3CDTF">2026-10-10T16:27:35Z</dcterms:created>
  <dcterms:modified xsi:type="dcterms:W3CDTF">2026-10-10T16:27:35Z</dcterms:modified>
</cp:coreProperties>
</file>