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625a6292-8d9f-0782-5ec7-0b4c35b8b97a}">
          <p14:sldIdLst>
            <p14:sldId id="256"/>
            <p14:sldId id="257"/>
          </p14:sldIdLst>
        </p14:section>
        <p14:section name="Core content" id="{7c9da033-391c-0481-b991-5ba3b92aec51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Wrap-up" id="{e2adf42f-ae83-6cba-5d1c-45375e3b3a52}">
          <p14:sldIdLst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Follow an outcome-free or otherwise defined population over time to compare outcomes
Core concepts, study planning, analysis and interpretation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purpose and structure of the design
Plan sampling, measurement and appropriate analysis
Assess bias, interpretation, ethics and reporting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a population before the outcome assessment period
Classify exposures and follow subsequent outcomes
Align eligibility, exposure assignment and follow-up start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Prospective studies collect future outcomes
Retrospective cohorts reconstruct follow-up from existing records
Both require a coherent time origin and temporal order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for incidence, prognosis and multiple outcomes
Consider feasibility of follow-up and outcome frequency
Recognize resource demands and inefficiency for very rare outcomes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Specify population, exposure or treatment, comparator and outcome
Define the follow-up horizon
State whether the aim is descriptive, prognostic or causal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Hypothetical example: baseline obesity and later meningioma diagnosis
Define an eligible population without the outcome at entry
Assess detection differences and plausible confounders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Apply eligibility criteria at a consistent index date
Establish baseline outcome status
Avoid using future information to define exposure or entry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 comparator from a compatible population and period
Check exposure overlap and baseline differences
Define reference categories precisely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Specify baseline, repeated or time-varying exposure
Use valid measurements and meaningful categories
Consider changes in exposure during follow-up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consistent criteria and ascertainment across groups
Distinguish incident outcomes from historical codes
Consider validation and competing events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the end of follow-up and censoring rules
Record loss to follow-up and reasons where available
Recognize bias if censoring depends on outcome risk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 planning on the primary estimand and expected event frequency
Account for follow-up duration and attrition
A large cohort may still contain few informative events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Estimate the probability of an outcome over a defined period
Keep numerator, denominator and follow-up horizon aligned
Consider censoring and competing risks where relevant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 time contributed while participants remain at risk
Divide events by person-time for an incidence rate
Distinguish a rate from a probability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risk ratios, risk differences and rate ratios
Explain absolute and relative interpretations
Do not substitute a hazard ratio for a risk ratio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Kaplan-Meier estimates when assumptions fit the question
Explain Cox models and proportional-hazards assessment
Recognize competing-risk and time-varying-effect alternatives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design restrictions and prespecified adjustment
Consider propensity methods when justified by the objective
Explain that adjustment cannot remove unmeasured confounding by itself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assign future survivors to an exposed group from baseline
Align treatment decisions and follow-up start
Consider time-varying exposures or target-trial principles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Assess loss to follow-up, differential testing and coding
More contact with healthcare may increase outcome detection
Explain how selection affects internal and external validity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baseline and follow-up missingness
Choose methods with defensible assumptions
Test alternative exposure, outcome and follow-up definitions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Hypothetical one-year risks are 20 of 200 exposed and 10 of 200 unexposed
Risk ratio is 2.0 and risk difference is 5 percentage points
State that these crude contrasts may reflect confounding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Protect longitudinal records and sensitive exposures
Follow applicable consent or waiver requirements
Specify access, linkage and retention safeguards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cohort STROBE checklist
Report follow-up, events, censoring and adjusted estimates transparently
Discuss the credibility of timing, comparator choice and remaining bias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STROBE Statement: reporting observational research. https://www.strobe-statement.org/
CDC Field Epidemiology Manual: Designing and Conducting Analytic Studies in the Field. https://www.cdc.gov/field-epi-manual/php/chapters/design-conduct-analyze-field-studies.html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88720"/>
            <a:ext cx="69494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3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6949440" cy="1691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611880"/>
            <a:ext cx="65836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617720"/>
            <a:ext cx="65836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Quantitative Research Methods  ·  Topic 06  ·  Cohort study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content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Quantitative Research Methods  ·  Topic 06  ·  Cohort study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trobe-statement.org/" TargetMode="External"/><Relationship Id="rId5" Type="http://schemas.openxmlformats.org/officeDocument/2006/relationships/hyperlink" Target="https://www.cdc.gov/field-epi-manual/php/chapters/design-conduct-analyze-field-studies.html" TargetMode="External"/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4" Type="http://schemas.openxmlformats.org/officeDocument/2006/relationships/image" Target="../media/image-25-3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887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3"/>
                </a:solidFill>
              </a:rPr>
              <a:t>QUANTITATIVE RESEARCH METHODS  ·  TOPIC 06 OF 11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6949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Cohort study</a:t>
            </a: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61188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Follow an outcome-free or otherwise defined population over time to compare outcomes</a:t>
            </a:r>
            <a:endParaRPr lang="en-US" sz="2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6177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Core concepts, study planning, analysis and interpretation</a:t>
            </a:r>
            <a:endParaRPr lang="en-US" sz="1600" dirty="0"/>
          </a:p>
        </p:txBody>
      </p:sp>
      <p:sp>
        <p:nvSpPr>
          <p:cNvPr id="6" name="Halo"/>
          <p:cNvSpPr/>
          <p:nvPr/>
        </p:nvSpPr>
        <p:spPr>
          <a:xfrm>
            <a:off x="7680960" y="1417320"/>
            <a:ext cx="4023360" cy="4023360"/>
          </a:xfrm>
          <a:prstGeom prst="ellipse">
            <a:avLst/>
          </a:prstGeom>
          <a:solidFill>
            <a:schemeClr val="accent2">
              <a:alpha val="45000"/>
            </a:schemeClr>
          </a:solidFill>
          <a:ln/>
        </p:spPr>
      </p:sp>
      <p:sp>
        <p:nvSpPr>
          <p:cNvPr id="7" name="Icon circle"/>
          <p:cNvSpPr/>
          <p:nvPr/>
        </p:nvSpPr>
        <p:spPr>
          <a:xfrm>
            <a:off x="8001000" y="1737360"/>
            <a:ext cx="3383280" cy="33832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46820" y="2583180"/>
            <a:ext cx="1691640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Learning objectives</a:t>
            </a:r>
            <a:endParaRPr lang="en-US" sz="3200" dirty="0"/>
          </a:p>
        </p:txBody>
      </p:sp>
      <p:sp>
        <p:nvSpPr>
          <p:cNvPr id="5" name="Objective 1"/>
          <p:cNvSpPr/>
          <p:nvPr/>
        </p:nvSpPr>
        <p:spPr>
          <a:xfrm>
            <a:off x="548640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14400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57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14400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01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Explain the purpose and structure of the design</a:t>
            </a:r>
            <a:endParaRPr lang="en-US" sz="2000" dirty="0"/>
          </a:p>
        </p:txBody>
      </p:sp>
      <p:sp>
        <p:nvSpPr>
          <p:cNvPr id="10" name="Objective 2"/>
          <p:cNvSpPr/>
          <p:nvPr/>
        </p:nvSpPr>
        <p:spPr>
          <a:xfrm>
            <a:off x="4353458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Icon circle"/>
          <p:cNvSpPr/>
          <p:nvPr/>
        </p:nvSpPr>
        <p:spPr>
          <a:xfrm>
            <a:off x="4719218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6388" y="2320290"/>
            <a:ext cx="434340" cy="4343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719218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02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4719218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Plan sampling, measurement and appropriate analysis</a:t>
            </a:r>
            <a:endParaRPr lang="en-US" sz="2000" dirty="0"/>
          </a:p>
        </p:txBody>
      </p:sp>
      <p:sp>
        <p:nvSpPr>
          <p:cNvPr id="15" name="Objective 3"/>
          <p:cNvSpPr/>
          <p:nvPr/>
        </p:nvSpPr>
        <p:spPr>
          <a:xfrm>
            <a:off x="8158277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Icon circle"/>
          <p:cNvSpPr/>
          <p:nvPr/>
        </p:nvSpPr>
        <p:spPr>
          <a:xfrm>
            <a:off x="8524037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1207" y="2320290"/>
            <a:ext cx="434340" cy="43434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524037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03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8524037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Assess bias, interpretation, ethics and reporting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Definition and temporal structure</a:t>
            </a:r>
            <a:endParaRPr lang="en-US" sz="3200" dirty="0"/>
          </a:p>
        </p:txBody>
      </p:sp>
      <p:sp>
        <p:nvSpPr>
          <p:cNvPr id="5" name="Lead panel"/>
          <p:cNvSpPr/>
          <p:nvPr/>
        </p:nvSpPr>
        <p:spPr>
          <a:xfrm>
            <a:off x="548640" y="1737360"/>
            <a:ext cx="11094415" cy="160020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60120" y="210312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29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48840" y="1737360"/>
            <a:ext cx="908273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Define a population before the outcome assessment period</a:t>
            </a:r>
            <a:endParaRPr lang="en-US" sz="2600" dirty="0"/>
          </a:p>
        </p:txBody>
      </p:sp>
      <p:sp>
        <p:nvSpPr>
          <p:cNvPr id="9" name="Point 2"/>
          <p:cNvSpPr/>
          <p:nvPr/>
        </p:nvSpPr>
        <p:spPr>
          <a:xfrm>
            <a:off x="548640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868680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Classify exposures and follow subsequent outcomes</a:t>
            </a:r>
            <a:endParaRPr lang="en-US" sz="2000" dirty="0"/>
          </a:p>
        </p:txBody>
      </p:sp>
      <p:sp>
        <p:nvSpPr>
          <p:cNvPr id="12" name="Point 3"/>
          <p:cNvSpPr/>
          <p:nvPr/>
        </p:nvSpPr>
        <p:spPr>
          <a:xfrm>
            <a:off x="6255868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3" name="Number 3"/>
          <p:cNvSpPr txBox="1"/>
          <p:nvPr/>
        </p:nvSpPr>
        <p:spPr>
          <a:xfrm>
            <a:off x="6575908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398868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Align eligibility, exposure assignment and follow-up start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Prospective and retrospective cohorts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Prospective studies collect future outcomes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Retrospective cohorts reconstruct follow-up from existing records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Both require a coherent time origin and temporal order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When the design fits</a:t>
            </a:r>
            <a:endParaRPr lang="en-US" sz="3200" dirty="0"/>
          </a:p>
        </p:txBody>
      </p:sp>
      <p:sp>
        <p:nvSpPr>
          <p:cNvPr id="5" name="Lead panel"/>
          <p:cNvSpPr/>
          <p:nvPr/>
        </p:nvSpPr>
        <p:spPr>
          <a:xfrm>
            <a:off x="548640" y="1737360"/>
            <a:ext cx="11094415" cy="160020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60120" y="210312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29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48840" y="1737360"/>
            <a:ext cx="908273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for incidence, prognosis and multiple outcomes</a:t>
            </a:r>
            <a:endParaRPr lang="en-US" sz="2600" dirty="0"/>
          </a:p>
        </p:txBody>
      </p:sp>
      <p:sp>
        <p:nvSpPr>
          <p:cNvPr id="9" name="Point 2"/>
          <p:cNvSpPr/>
          <p:nvPr/>
        </p:nvSpPr>
        <p:spPr>
          <a:xfrm>
            <a:off x="548640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868680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Consider feasibility of follow-up and outcome frequency</a:t>
            </a:r>
            <a:endParaRPr lang="en-US" sz="2000" dirty="0"/>
          </a:p>
        </p:txBody>
      </p:sp>
      <p:sp>
        <p:nvSpPr>
          <p:cNvPr id="12" name="Point 3"/>
          <p:cNvSpPr/>
          <p:nvPr/>
        </p:nvSpPr>
        <p:spPr>
          <a:xfrm>
            <a:off x="6255868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3" name="Number 3"/>
          <p:cNvSpPr txBox="1"/>
          <p:nvPr/>
        </p:nvSpPr>
        <p:spPr>
          <a:xfrm>
            <a:off x="6575908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398868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Recognize resource demands and inefficiency for very rare outcomes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Formulating the question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KEY IDEA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Specify population, exposure or treatment, comparator and outcome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Define the follow-up horizon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State whether the aim is descriptive, prognostic or causal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Illustrative research problem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8288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Hypothetical example: baseline obesity and later meningioma diagnosis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32461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Define an eligible population without the outcome at entry</a:t>
            </a:r>
            <a:endParaRPr lang="en-US" sz="2200" dirty="0"/>
          </a:p>
        </p:txBody>
      </p:sp>
      <p:sp>
        <p:nvSpPr>
          <p:cNvPr id="9" name="Number 3"/>
          <p:cNvSpPr txBox="1"/>
          <p:nvPr/>
        </p:nvSpPr>
        <p:spPr>
          <a:xfrm>
            <a:off x="548640" y="4663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46634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Assess detection differences and plausible confounders</a:t>
            </a:r>
            <a:endParaRPr lang="en-US" sz="2200" dirty="0"/>
          </a:p>
        </p:txBody>
      </p:sp>
      <p:sp>
        <p:nvSpPr>
          <p:cNvPr id="11" name="Visual panel"/>
          <p:cNvSpPr/>
          <p:nvPr/>
        </p:nvSpPr>
        <p:spPr>
          <a:xfrm>
            <a:off x="8275320" y="1783080"/>
            <a:ext cx="3367735" cy="4206240"/>
          </a:xfrm>
          <a:prstGeom prst="roundRect">
            <a:avLst>
              <a:gd name="adj" fmla="val 4073"/>
            </a:avLst>
          </a:prstGeom>
          <a:solidFill>
            <a:schemeClr val="bg2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8999068" y="2926080"/>
            <a:ext cx="1920240" cy="1920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9128" y="3406140"/>
            <a:ext cx="960120" cy="960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Defining the cohort and time zero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Apply eligibility criteria at a consistent index date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Establish baseline outcome status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Avoid using future information to define exposure or entry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Selecting the comparison group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Use a comparator from a compatible population and period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Check exposure overlap and baseline differences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Define reference categories precisely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Exposure measurement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KEY IDEA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Specify baseline, repeated or time-varying exposure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Use valid measurements and meaningful categories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Consider changes in exposure during follow-up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Outcome definition and ascertainment</a:t>
            </a:r>
            <a:endParaRPr lang="en-US" sz="3200" dirty="0"/>
          </a:p>
        </p:txBody>
      </p:sp>
      <p:sp>
        <p:nvSpPr>
          <p:cNvPr id="5" name="Lead panel"/>
          <p:cNvSpPr/>
          <p:nvPr/>
        </p:nvSpPr>
        <p:spPr>
          <a:xfrm>
            <a:off x="548640" y="1737360"/>
            <a:ext cx="11094415" cy="160020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60120" y="210312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29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48840" y="1737360"/>
            <a:ext cx="908273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consistent criteria and ascertainment across groups</a:t>
            </a:r>
            <a:endParaRPr lang="en-US" sz="2600" dirty="0"/>
          </a:p>
        </p:txBody>
      </p:sp>
      <p:sp>
        <p:nvSpPr>
          <p:cNvPr id="9" name="Point 2"/>
          <p:cNvSpPr/>
          <p:nvPr/>
        </p:nvSpPr>
        <p:spPr>
          <a:xfrm>
            <a:off x="548640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868680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Distinguish incident outcomes from historical codes</a:t>
            </a:r>
            <a:endParaRPr lang="en-US" sz="2000" dirty="0"/>
          </a:p>
        </p:txBody>
      </p:sp>
      <p:sp>
        <p:nvSpPr>
          <p:cNvPr id="12" name="Point 3"/>
          <p:cNvSpPr/>
          <p:nvPr/>
        </p:nvSpPr>
        <p:spPr>
          <a:xfrm>
            <a:off x="6255868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3" name="Number 3"/>
          <p:cNvSpPr txBox="1"/>
          <p:nvPr/>
        </p:nvSpPr>
        <p:spPr>
          <a:xfrm>
            <a:off x="6575908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398868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Consider validation and competing events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Follow-up and censoring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Define the end of follow-up and censoring rules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Record loss to follow-up and reasons where available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Recognize bias if censoring depends on outcome risk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Sample size and event planning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Base planning on the primary estimand and expected event frequency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Account for follow-up duration and attrition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 large cohort may still contain few informative events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Risk and cumulative incidence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KEY IDEA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Estimate the probability of an outcome over a defined period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Keep numerator, denominator and follow-up horizon aligned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Consider censoring and competing risks where relevant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Person-time and incidence rates</a:t>
            </a:r>
            <a:endParaRPr lang="en-US" sz="3200" dirty="0"/>
          </a:p>
        </p:txBody>
      </p:sp>
      <p:sp>
        <p:nvSpPr>
          <p:cNvPr id="5" name="Formula panel"/>
          <p:cNvSpPr/>
          <p:nvPr/>
        </p:nvSpPr>
        <p:spPr>
          <a:xfrm>
            <a:off x="548640" y="1737360"/>
            <a:ext cx="512064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960120" y="21031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FORMULA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260604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Incidence rate =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388620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Number of events</a:t>
            </a:r>
            <a:endParaRPr lang="en-US" sz="2400" dirty="0"/>
          </a:p>
        </p:txBody>
      </p:sp>
      <p:sp>
        <p:nvSpPr>
          <p:cNvPr id="9" name="Fraction bar"/>
          <p:cNvSpPr/>
          <p:nvPr/>
        </p:nvSpPr>
        <p:spPr>
          <a:xfrm>
            <a:off x="960120" y="4709160"/>
            <a:ext cx="4297680" cy="0"/>
          </a:xfrm>
          <a:prstGeom prst="line">
            <a:avLst/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60120" y="484632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Total person-time at risk</a:t>
            </a:r>
            <a:endParaRPr lang="en-US" sz="2400" dirty="0"/>
          </a:p>
        </p:txBody>
      </p:sp>
      <p:sp>
        <p:nvSpPr>
          <p:cNvPr id="11" name="Number 1"/>
          <p:cNvSpPr txBox="1"/>
          <p:nvPr/>
        </p:nvSpPr>
        <p:spPr>
          <a:xfrm>
            <a:off x="617220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040880" y="1874520"/>
            <a:ext cx="460217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Sum time contributed while participants remain at risk</a:t>
            </a:r>
            <a:endParaRPr lang="en-US" sz="2200" dirty="0"/>
          </a:p>
        </p:txBody>
      </p:sp>
      <p:sp>
        <p:nvSpPr>
          <p:cNvPr id="13" name="Number 2"/>
          <p:cNvSpPr txBox="1"/>
          <p:nvPr/>
        </p:nvSpPr>
        <p:spPr>
          <a:xfrm>
            <a:off x="6172200" y="3246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7040880" y="3291840"/>
            <a:ext cx="460217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Divide events by person-time for an incidence rate</a:t>
            </a:r>
            <a:endParaRPr lang="en-US" sz="2200" dirty="0"/>
          </a:p>
        </p:txBody>
      </p:sp>
      <p:sp>
        <p:nvSpPr>
          <p:cNvPr id="15" name="Number 3"/>
          <p:cNvSpPr txBox="1"/>
          <p:nvPr/>
        </p:nvSpPr>
        <p:spPr>
          <a:xfrm>
            <a:off x="6172200" y="4663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7040880" y="4709160"/>
            <a:ext cx="460217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Distinguish a rate from a probability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Comparative measures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Compare risk ratios, risk differences and rate ratios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Explain absolute and relative interpretations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Do not substitute a hazard ratio for a risk ratio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Survival analysis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Use Kaplan-Meier estimates when assumptions fit the question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Explain Cox models and proportional-hazards assessment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Recognize competing-risk and time-varying-effect alternatives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Confounding control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Use design restrictions and prespecified adjustment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Consider propensity methods when justified by the objective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Explain that adjustment cannot remove unmeasured confounding by itself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Immortal time and other timing errors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KEY IDEA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not assign future survivors to an exposed group from baseline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Align treatment decisions and follow-up start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Consider time-varying exposures or target-trial principles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Selection and surveillance bias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Assess loss to follow-up, differential testing and coding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More contact with healthcare may increase outcome detection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Explain how selection affects internal and external validity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Missing data and sensitivity analyses</a:t>
            </a:r>
            <a:endParaRPr lang="en-US" sz="3200" dirty="0"/>
          </a:p>
        </p:txBody>
      </p:sp>
      <p:graphicFrame>
        <p:nvGraphicFramePr>
          <p:cNvPr id="22" name="Missing data and sensitivity analyse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569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KEY POINT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01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Describe baseline and follow-up missingness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02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Choose methods with defensible assumptions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03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Test alternative exposure, outcome and follow-up definitions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Worked comparative example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HYPOTHETICAL EXAMPLE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One-year risks are 20 of 200 exposed and 10 of 200 unexposed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Risk ratio is 2.0 and risk difference is 5 percentage points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State that these crude contrasts may reflect confounding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Ethics and data stewardship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Protect longitudinal records and sensitive exposures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Follow applicable consent or waiver requirements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Specify access, linkage and retention safeguards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Reporting, strengths and takeaways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920240"/>
            <a:ext cx="594360" cy="59436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1920240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bg1"/>
                </a:solidFill>
              </a:rPr>
              <a:t>Use the cohort STROBE checklist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108960"/>
            <a:ext cx="594360" cy="59436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3108960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bg1"/>
                </a:solidFill>
              </a:rPr>
              <a:t>Report follow-up, events, censoring and adjusted estimates transparently</a:t>
            </a:r>
            <a:endParaRPr lang="en-US" sz="2200" dirty="0"/>
          </a:p>
        </p:txBody>
      </p:sp>
      <p:sp>
        <p:nvSpPr>
          <p:cNvPr id="9" name="Discussion prompt"/>
          <p:cNvSpPr/>
          <p:nvPr/>
        </p:nvSpPr>
        <p:spPr>
          <a:xfrm>
            <a:off x="548640" y="4343400"/>
            <a:ext cx="11094415" cy="1645920"/>
          </a:xfrm>
          <a:prstGeom prst="roundRect">
            <a:avLst>
              <a:gd name="adj" fmla="val 8333"/>
            </a:avLst>
          </a:prstGeom>
          <a:solidFill>
            <a:schemeClr val="accent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4777740"/>
            <a:ext cx="777240" cy="77724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990" y="497205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965960" y="4343400"/>
            <a:ext cx="93113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Bef>
                <a:spcPts val="400"/>
              </a:spcBef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DISCUSSION PROMPT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 the credibility of timing, comparator choice and remaining bias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References and further reading</a:t>
            </a:r>
            <a:endParaRPr lang="en-US" sz="3200" dirty="0"/>
          </a:p>
        </p:txBody>
      </p:sp>
      <p:sp>
        <p:nvSpPr>
          <p:cNvPr id="5" name="Reference 1"/>
          <p:cNvSpPr/>
          <p:nvPr/>
        </p:nvSpPr>
        <p:spPr>
          <a:xfrm>
            <a:off x="548640" y="1828800"/>
            <a:ext cx="11094415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2860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244602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83080" y="1828800"/>
            <a:ext cx="94942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STROBE Statement: reporting observational research.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u="sng" dirty="0">
                <a:solidFill>
                  <a:schemeClr val="accent1"/>
                </a:solidFill>
                <a:hlinkClick r:id="rId3" invalidUrl="" action="" tgtFrame="" tooltip="https://www.strobe-statement.org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https://www.strobe-statement.org/</a:t>
            </a:r>
            <a:endParaRPr lang="en-US" sz="2000" dirty="0"/>
          </a:p>
        </p:txBody>
      </p:sp>
      <p:sp>
        <p:nvSpPr>
          <p:cNvPr id="9" name="Reference 2"/>
          <p:cNvSpPr/>
          <p:nvPr/>
        </p:nvSpPr>
        <p:spPr>
          <a:xfrm>
            <a:off x="548640" y="3703320"/>
            <a:ext cx="11094415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41605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4320540"/>
            <a:ext cx="320040" cy="3200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83080" y="3703320"/>
            <a:ext cx="94942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CDC Field Epidemiology Manual: Designing and Conducting Analytic Studies in the Field.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u="sng" dirty="0">
                <a:solidFill>
                  <a:schemeClr val="accent1"/>
                </a:solidFill>
                <a:hlinkClick r:id="rId5" invalidUrl="" action="" tgtFrame="" tooltip="https://www.cdc.gov/field-epi-manual/php/chapters/design-conduct-analyze-field-studies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https://www.cdc.gov/field-epi-manual/php/chapters/design-conduct-analyze-field-studies.html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uantitative Research Methods – Cohort study">
  <a:themeElements>
    <a:clrScheme name="Quantitative Research Methods – Cohort study">
      <a:dk1>
        <a:srgbClr val="1F2328"/>
      </a:dk1>
      <a:lt1>
        <a:srgbClr val="FFFFFF"/>
      </a:lt1>
      <a:dk2>
        <a:srgbClr val="59606B"/>
      </a:dk2>
      <a:lt2>
        <a:srgbClr val="E9EFED"/>
      </a:lt2>
      <a:accent1>
        <a:srgbClr val="245C4F"/>
      </a:accent1>
      <a:accent2>
        <a:srgbClr val="1A4239"/>
      </a:accent2>
      <a:accent3>
        <a:srgbClr val="C2D1CE"/>
      </a:accent3>
      <a:accent4>
        <a:srgbClr val="D3DEDC"/>
      </a:accent4>
      <a:accent5>
        <a:srgbClr val="8A929E"/>
      </a:accent5>
      <a:accent6>
        <a:srgbClr val="D9DDE3"/>
      </a:accent6>
      <a:hlink>
        <a:srgbClr val="245C4F"/>
      </a:hlink>
      <a:folHlink>
        <a:srgbClr val="1A4239"/>
      </a:folHlink>
    </a:clrScheme>
    <a:fontScheme name="Quantitative Research Methods – Cohort stud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Cohort study</dc:title>
  <dc:subject>Quantitative Research Methods</dc:subject>
  <dc:creator>PptxGenJS</dc:creator>
  <cp:lastModifiedBy>PptxGenJS</cp:lastModifiedBy>
  <cp:revision>1</cp:revision>
  <dcterms:created xsi:type="dcterms:W3CDTF">2026-10-10T16:27:35Z</dcterms:created>
  <dcterms:modified xsi:type="dcterms:W3CDTF">2026-10-10T16:27:35Z</dcterms:modified>
</cp:coreProperties>
</file>