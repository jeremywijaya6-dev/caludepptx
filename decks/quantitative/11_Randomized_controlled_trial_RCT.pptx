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dd66b12-8e9b-1845-2529-711227a04875}">
          <p14:sldIdLst>
            <p14:sldId id="256"/>
            <p14:sldId id="257"/>
          </p14:sldIdLst>
        </p14:section>
        <p14:section name="Core content" id="{1fe36a06-7786-4d28-fc33-6224c0646bcb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38db121a-22e8-bda1-8830-50db66f2a5b0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 intervention effects using randomized allocation and a prespecified trial protocol
Core concepts, study planning, analysis and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structure of the design
Plan sampling, measurement and appropriate analysis
Assess bias, interpretation,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Randomly assign eligible participants or groups to interventions
Compare outcomes under a prespecified protocol
Use randomization to support exchangeability on average, not guarantee identical groups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when intervention assignment is ethical and feasible
Ensure the comparator addresses a meaningful question
Assess recruitment, follow-up and operational feasibility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population, intervention, comparator, outcomes and time horizon
Define the estimand, including handling of intercurrent events
Connect the question with clinically meaningful decisions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randomized reminder messages versus usual appointment communication
Evaluate attendance at a defined time
Prespecify harms, burden and secondary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SPIRIT 2025 to guide protocol reporting
Register the trial prospectively according to applicable requirements
Finalize the analysis plan before outcome-driven changes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parallel, crossover, cluster and factorial structures
Choose according to intervention, carryover and contamination risks
Explain structure-specific analysis requirements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criteria that balance safety and applicability
Recruit without knowledge of upcoming allocation
Record screening and reasons for exclusion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usual care, placebo or an active comparator
Describe intervention delivery sufficiently for replication
Keep co-interventions and permitted care clear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genuinely random allocation method
Describe blocking or stratification where applied
Keep prediction of upcoming assignments difficult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Prevent foreknowledge of the next assignment during enrollment
Consider centralized or securely implemented allocation
Distinguish concealment from blinding after assignment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which participants, staff, assessors or analysts are blinded
Explain how blinding is maintained or why it is infeasible
Assess susceptibility of outcomes to knowledge of allocation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primary outcome, effect size, error rates and variability assumptions
Account for attrition, clustering or repeated measurement
Choose assumptions grounded in the clinical question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Prespecify outcome definitions and assessment times
Limit multiplicity and explain the hierarchy of outcomes
Distinguish patient-important outcomes from surrogates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consistent assessment in all groups
Record adherence, discontinuation, rescue therapy and crossover
Handle these events according to the estimand and analysis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prognostic factors and group composition
Recognize chance imbalances can occur after randomization
Avoid routine significance testing as proof of successful randomization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an outcome model aligned with the estimand and design
Include prespecified covariate adjustment where justified
Report effect estimates with confidence intervals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participants according to randomized assignment for the relevant assignment-based effect
Do not exclude participants solely for nonadherence
Explain missing outcomes rather than implying ITT solves missingness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adherence and protocol deviations in advance
Recognize potential selection bias from naive exclusions
Use suitable methods and distinguish supplementary from primary conclusions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measures suited to binary, continuous or time-to-event outcomes
Pair relative contrasts with absolute effects when useful
Distinguish hazard ratios, risk ratios and risk differences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event risks are 10% with intervention and 15% with control at one year
Risk ratio is 0.67 and absolute risk reduction is 5 percentage points
NNT is 20 over that horizon if the event is undesirable and the contrast is appropriate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 meaningful consent, appropriate review and a defensible treatment comparison
Prespecify harm collection and monitoring suited to risk
Plan interim decisions without ignoring multiplicity or operational bias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CONSORT 2025 and relevant design-specific extensions
Report participant flow, outcomes, uncertainty, harms and deviations
Discuss remaining risks from attrition, nonadherence and limited applicability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SPIRIT 2025 and CONSORT 2025: randomized trial protocol and reporting guidance. https://www.consort-spirit.org/
Published statements and explanation documents. https://www.consort-spirit.org/published-statements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Quantitative Research Methods  ·  Topic 11  ·  Randomized controlled trial (RCT)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Quantitative Research Methods  ·  Topic 11  ·  Randomized controlled trial (RCT)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sort-spirit.org/" TargetMode="External"/><Relationship Id="rId5" Type="http://schemas.openxmlformats.org/officeDocument/2006/relationships/hyperlink" Target="https://www.consort-spirit.org/published-statements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QUANTITATIVE RESEARCH METHODS  ·  TOPIC 11 OF 11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Randomized controlled trial (RCT)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Estimate intervention effects using randomized allocation and a prespecified trial protocol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concepts, study planning, analysis and interpretation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structure of the design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measurement and appropriate analysis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Assess bias, interpretation,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Randomly assign eligible participants or groups to interventions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Compare outcomes under a prespecified protocol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Use randomization to support exchangeability on average, not guarantee identical groups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an RCT fits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when intervention assignment is ethical and feasible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Ensure the comparator addresses a meaningful question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recruitment, follow-up and operational feasibility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trial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population, intervention, comparator, outcomes and time horizon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estimand, including handling of intercurrent events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Connect the question with clinically meaningful decisions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randomized reminder messages versus usual appointment communication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Evaluate attendance at a defined time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Prespecify harms, burden and secondary outcomes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Protocol and registration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SPIRIT 2025 to guide protocol reporting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Register the trial prospectively according to applicable requirements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Finalize the analysis plan before outcome-driven changes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Common trial structures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parallel, crossover, cluster and factorial structures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Choose according to intervention, carryover and contamination risks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structure-specific analysis requirements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Eligibility and recruitment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criteria that balance safety and applicability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Recruit without knowledge of upcoming allocation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 screening and reasons for exclusion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Comparator and intervention definition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usual care, placebo or an active comparator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Describe intervention delivery sufficiently for replication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Keep co-interventions and permitted care clear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Random sequence generation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a genuinely random allocation method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Describe blocking or stratification where applied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prediction of upcoming assignments difficult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Allocation concealment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Prevent foreknowledge of the next assignment during enrollment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centralized or securely implemented allocation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concealment from blinding after assignment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Blinding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which participants, staff, assessors or analysts are blinded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how blinding is maintained or why it is infeasible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susceptibility of outcomes to knowledge of allocation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size and power</a:t>
            </a:r>
            <a:endParaRPr lang="en-US" sz="3200" dirty="0"/>
          </a:p>
        </p:txBody>
      </p:sp>
      <p:graphicFrame>
        <p:nvGraphicFramePr>
          <p:cNvPr id="15" name="Sample size and pow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Specify primary outcome, effect size, error rates and variability assumptions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Account for attrition, clustering or repeated measurement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Choose assumptions grounded in the clinical question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Primary and secondary outcomes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Prespecify outcome definitions and assessment times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Limit multiplicity and explain the hierarchy of outcomes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patient-important outcomes from surrogates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Follow-up, adherence and intercurrent events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Plan consistent assessment in all groups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adherence, discontinuation, rescue therapy and crossover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Handle these events according to the estimand and analysis plan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Baseline characteristics</a:t>
            </a:r>
            <a:endParaRPr lang="en-US" sz="3200" dirty="0"/>
          </a:p>
        </p:txBody>
      </p:sp>
      <p:graphicFrame>
        <p:nvGraphicFramePr>
          <p:cNvPr id="18" name="Baseline characterist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Describe prognostic factors and group composition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Recognize chance imbalances can occur after randomization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Avoid routine significance testing as proof of successful randomization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Primary statistical analysis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an outcome model aligned with the estimand and design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Include prespecified covariate adjustment where justified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Report effect estimates with confidence intervals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Intention-to-treat principle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Analyze participants according to randomized assignment for the relevant assignment-based effect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Do not exclude participants solely for nonadherence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missing outcomes rather than implying ITT solves missingness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Per-protocol and supplementary analyses</a:t>
            </a:r>
            <a:endParaRPr lang="en-US" sz="3200" dirty="0"/>
          </a:p>
        </p:txBody>
      </p:sp>
      <p:graphicFrame>
        <p:nvGraphicFramePr>
          <p:cNvPr id="21" name="Per-protocol and supplementary analys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Define adherence and protocol deviations in advance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Recognize potential selection bias from naive exclusions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suitable methods and distinguish supplementary from primary conclusions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Absolute and relative treatment effects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Report measures suited to binary, continuous or time-to-event outcomes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Pair relative contrasts with absolute effects when useful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hazard ratios, risk ratios and risk differences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effect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risks are 10% with intervention and 15% with control at one year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Risk ratio is 0.67 and absolute risk reduction is 5 percentage points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NNT is 20 over that horizon if the event is undesirable and the contrast is appropriate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Safety, ethics and trial monitoring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Require meaningful consent, appropriate review and a defensible treatment comparison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Prespecify harm collection and monitoring suited to risk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Plan interim decisions without ignoring multiplicity or operational bias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Reporting, strengths and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Use CONSORT 2025 and relevant design-specific extensions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Report participant flow, outcomes, uncertainty, harms and deviations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remaining risks from attrition, nonadherence and limited applicability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SPIRIT 2025 and CONSORT 2025: randomized trial protocol and reporting guidance.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www.consort-spirit.org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https://www.consort-spirit.org/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Published statements and explanation documents.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www.consort-spirit.org/published-statemen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https://www.consort-spirit.org/published-statements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itative Research Methods – Randomized controlled trial (RCT)">
  <a:themeElements>
    <a:clrScheme name="Quantitative Research Methods – Randomized controlled trial (RCT)">
      <a:dk1>
        <a:srgbClr val="1F2328"/>
      </a:dk1>
      <a:lt1>
        <a:srgbClr val="FFFFFF"/>
      </a:lt1>
      <a:dk2>
        <a:srgbClr val="59606B"/>
      </a:dk2>
      <a:lt2>
        <a:srgbClr val="E9EBEF"/>
      </a:lt2>
      <a:accent1>
        <a:srgbClr val="1E3A5F"/>
      </a:accent1>
      <a:accent2>
        <a:srgbClr val="162A44"/>
      </a:accent2>
      <a:accent3>
        <a:srgbClr val="C0C8D2"/>
      </a:accent3>
      <a:accent4>
        <a:srgbClr val="D2D8DF"/>
      </a:accent4>
      <a:accent5>
        <a:srgbClr val="8A929E"/>
      </a:accent5>
      <a:accent6>
        <a:srgbClr val="D9DDE3"/>
      </a:accent6>
      <a:hlink>
        <a:srgbClr val="1E3A5F"/>
      </a:hlink>
      <a:folHlink>
        <a:srgbClr val="162A44"/>
      </a:folHlink>
    </a:clrScheme>
    <a:fontScheme name="Quantitative Research Methods – Randomized controlled trial (RCT)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Randomized controlled trial (RCT)</dc:title>
  <dc:subject>Quantitative Research Methods</dc:subject>
  <dc:creator>PptxGenJS</dc:creator>
  <cp:lastModifiedBy>PptxGenJS</cp:lastModifiedBy>
  <cp:revision>1</cp:revision>
  <dcterms:created xsi:type="dcterms:W3CDTF">2026-10-10T16:27:35Z</dcterms:created>
  <dcterms:modified xsi:type="dcterms:W3CDTF">2026-10-10T16:27:35Z</dcterms:modified>
</cp:coreProperties>
</file>