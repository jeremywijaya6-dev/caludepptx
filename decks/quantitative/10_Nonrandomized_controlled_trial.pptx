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5a8d495-115f-d00d-31f9-d28932358074}">
          <p14:sldIdLst>
            <p14:sldId id="256"/>
            <p14:sldId id="257"/>
          </p14:sldIdLst>
        </p14:section>
        <p14:section name="Core content" id="{d903fcaa-d1de-f06d-0143-f4ab70d0a02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954ebde0-f848-4718-bcad-9965d33a6452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an investigator-assigned intervention against a comparator without random allocation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Investigators assign intervention and comparator groups without randomization
Measure subsequent outcomes under a planned protocol
Distinguish investigator assignment from observing routine treatment choices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cohort may observe exposure without assigning it
Controlled before-after designs include measurements before and after in both groups
Trial and quasi-experimental labels can overlap, so describe actual procedures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logistical, operational or preference constraints
Explain why randomization was not feasible
Assess whether the remaining design can answer the intervention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population, intervention, comparator, outcome and time horizon
Define the intended treatment effect
Identify the decision point at which groups are assigned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clinicians assign two patient-education approaches by clinic schedule
Evaluate later knowledge or attendance
Examine whether schedule and clinic differences predict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procedures and outcomes before enrollment
Prespecify confounders and analysis methods
Use appropriate registration or public protocol practices where applicable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comparable criteria to both groups
Recruit before outcome development where possible
Record preferences and reasons for participation or refusal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clinician choice, location, time or other assignment rules
Avoid calling alternation or date-based assignment truly random
Assess predictability and selection opportunities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usual care, active treatment or another appropriate comparator
Ensure contemporaneous and comparable follow-up
Explain why the comparator answers the intended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prognostic characteristics before treatment assignment or initiation as appropriate
Measure confounders with consistent procedures
Evaluate overlap between 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intervention content, dose and delivery
Document adherence, crossover and co-interventions
Distinguish assigned treatment from treatment received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 assessors or analysts where feasible
Use objective or standardized outcomes
Explain when participants or staff cannot be blinded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Prespecify primary and secondary outcomes
Align time zero and assessment windows
Avoid preferential outcome assessment in one group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planning on the intended effect, event frequency and variability
Include expected attrition and clustering
Consider loss of information from poor overlap or matching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Allocation may depend on factors that also affect outcomes
Identify confounding by indication or preference
Explain why baseline adjustment is central but not sufficient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outcome models that estimate the intended contrast
Adjust prespecified prognostic confounders
Avoid controlling for post-treatment mediators without a clear estimand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matching, weighting or stratification when assumptions are credible
Assess overlap and covariate balance after adjustment
Explain that these methods do not resolve unmeasured confounding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assignment-based, as-treated or per-protocol contrasts
Explain how crossover and adherence affect interpretation
Avoid treating assignment-based analysis as restoring randomization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outcome completeness by group and reasons for loss
Use methods with stated assumptions
Examine sensitivity to informative missingness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adjusted analysis favors one education strategy
Examine whether motivated patients were preferentially assigned to it
Separate an adjusted association from a credible causal estimate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Obtain appropriate approvals and informed consent for trial procedures
Monitor harms in both groups
Assess allocation, confounding, measurement and missingness systematically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nonrandom allocation and its rationale clearly
Report protocol, flow, adjustments, adherence and harms
Discuss residual confounding and when randomization would strengthen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Cochrane Handbook, Chapter 25: Assessing risk of bias in a non-randomized study. https://www.cochrane.org/authors/handbooks-and-manuals/handbook/current/chapter-25
JBI Critical Appraisal Tools. https://jbi.global/critical-appraisal-tools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10  ·  Nonrandomized controlled trial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10  ·  Nonrandomized controlled trial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chrane.org/authors/handbooks-and-manuals/handbook/current/chapter-25" TargetMode="External"/><Relationship Id="rId5" Type="http://schemas.openxmlformats.org/officeDocument/2006/relationships/hyperlink" Target="https://jbi.global/critical-appraisal-tools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10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Nonrandomized controlled trial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Evaluate an investigator-assigned intervention against a comparator without random allocation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allocation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Investigators assign intervention and comparator groups without randomization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Measure subsequent outcomes under a planned protocol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Distinguish investigator assignment from observing routine treatment choices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Relationship to other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 cohort may observe exposure without assigning it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Controlled before-after designs include measurements before and after in both groups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Trial and quasi-experimental labels can overlap, so describe actual procedures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nonrandomized trials are used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 logistical, operational or preference constraints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randomization was not feasible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Assess whether the remaining design can answer the intervention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population, intervention, comparator, outcome and time horizon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the intended treatment effect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decision point at which groups are assigned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Clinicians assign two patient-education approaches by clinic schedule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Evaluate later knowledge or attendance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whether schedule and clinic differences predict outcomes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Protocol and analysis planning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procedures and outcomes before enrollment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Prespecify confounders and analysis methods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appropriate registration or public protocol practices where applicable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Eligibility and recruitment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Apply comparable criteria to both groups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Recruit before outcome development where possible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preferences and reasons for participation or refusal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Nonrandom allocation mechanism</a:t>
            </a:r>
            <a:endParaRPr lang="en-US" sz="3200" dirty="0"/>
          </a:p>
        </p:txBody>
      </p:sp>
      <p:graphicFrame>
        <p:nvGraphicFramePr>
          <p:cNvPr id="11" name="Nonrandom allocation mechanis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clinician choice, location, time or other assignment rules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calling alternation or date-based assignment truly random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Assess predictability and selection opportunities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comparator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usual care, active treatment or another appropriate comparator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Ensure contemporaneous and comparable follow-up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the comparator answers the intended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Baseline measurement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prognostic characteristics before treatment assignment or initiation as appropriate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Measure confounders with consistent procedures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Evaluate overlap between groups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Intervention delivery and adherence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Specify intervention content, dose and delivery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adherence, crossover and co-interventions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assigned treatment from treatment received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Blinding and outcome assessment</a:t>
            </a:r>
            <a:endParaRPr lang="en-US" sz="3200" dirty="0"/>
          </a:p>
        </p:txBody>
      </p:sp>
      <p:graphicFrame>
        <p:nvGraphicFramePr>
          <p:cNvPr id="15" name="Blinding and outcome assess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Blind assessors or analysts where feasible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objective or standardized outcomes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when participants or staff cannot be blinded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Outcome definitions and follow-up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Prespecify primary and secondary outcomes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Align time zero and assessment windows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preferential outcome assessment in one group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and precision</a:t>
            </a:r>
            <a:endParaRPr lang="en-US" sz="3200" dirty="0"/>
          </a:p>
        </p:txBody>
      </p:sp>
      <p:graphicFrame>
        <p:nvGraphicFramePr>
          <p:cNvPr id="17" name="Sample size and pr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Base planning on the intended effect, event frequency and variability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Include expected attrition and clustering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loss of information from poor overlap or matching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and prognostic imbalance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Allocation may depend on factors that also affect outcomes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confounding by indication or preference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baseline adjustment is central but not sufficient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Regression adjustment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outcome models that estimate the intended contrast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Adjust prespecified prognostic confounders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controlling for post-treatment mediators without a clear estimand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Propensity score methods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matching, weighting or stratification when assumptions are credible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overlap and covariate balance after adjustment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that these methods do not resolve unmeasured confounding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the analysis population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assignment-based, as-treated or per-protocol contrasts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crossover and adherence affect interpretation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assignment-based analysis as restoring randomization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Missing data and attrition</a:t>
            </a:r>
            <a:endParaRPr lang="en-US" sz="3200" dirty="0"/>
          </a:p>
        </p:txBody>
      </p:sp>
      <p:graphicFrame>
        <p:nvGraphicFramePr>
          <p:cNvPr id="22" name="Missing data and attri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Report outcome completeness by group and reasons for loss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methods with stated assumptions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sensitivity to informative missingness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interpretation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Adjusted analysis favors one education strategy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whether motivated patients were preferentially assigned to it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Separate an adjusted association from a credible causal estimate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harms and risk of bias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Obtain appropriate approvals and informed consent for trial procedures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Monitor harms in both groups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allocation, confounding, measurement and missingness systematically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nonrandom allocation and its rationale clearly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protocol, flow, adjustments, adherence and harms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residual confounding and when randomization would strengthen inference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Cochrane Handbook, Chapter 25: Assessing risk of bias in a non-randomized study.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cochrane.org/authors/handbooks-and-manuals/handbook/current/chapter-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https://www.cochrane.org/authors/handbooks-and-manuals/handbook/current/chapter-25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JBI Critical Appraisal Tools.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jbi.global/critical-appraisal-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https://jbi.global/critical-appraisal-tools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Nonrandomized controlled trial">
  <a:themeElements>
    <a:clrScheme name="Quantitative Research Methods – Nonrandomized controlled trial">
      <a:dk1>
        <a:srgbClr val="1F2328"/>
      </a:dk1>
      <a:lt1>
        <a:srgbClr val="FFFFFF"/>
      </a:lt1>
      <a:dk2>
        <a:srgbClr val="59606B"/>
      </a:dk2>
      <a:lt2>
        <a:srgbClr val="F2EBEF"/>
      </a:lt2>
      <a:accent1>
        <a:srgbClr val="7A3B5C"/>
      </a:accent1>
      <a:accent2>
        <a:srgbClr val="582A42"/>
      </a:accent2>
      <a:accent3>
        <a:srgbClr val="DAC8D1"/>
      </a:accent3>
      <a:accent4>
        <a:srgbClr val="E4D8DE"/>
      </a:accent4>
      <a:accent5>
        <a:srgbClr val="8A929E"/>
      </a:accent5>
      <a:accent6>
        <a:srgbClr val="D9DDE3"/>
      </a:accent6>
      <a:hlink>
        <a:srgbClr val="7A3B5C"/>
      </a:hlink>
      <a:folHlink>
        <a:srgbClr val="582A42"/>
      </a:folHlink>
    </a:clrScheme>
    <a:fontScheme name="Quantitative Research Methods – Nonrandomized controlled tr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Nonrandomized controlled trial</dc:title>
  <dc:subject>Quantitative Research Methods</dc:subject>
  <dc:creator>PptxGenJS</dc:creator>
  <cp:lastModifiedBy>PptxGenJS</cp:lastModifiedBy>
  <cp:revision>1</cp:revision>
  <dcterms:created xsi:type="dcterms:W3CDTF">2026-10-10T16:27:35Z</dcterms:created>
  <dcterms:modified xsi:type="dcterms:W3CDTF">2026-10-10T16:27:35Z</dcterms:modified>
</cp:coreProperties>
</file>