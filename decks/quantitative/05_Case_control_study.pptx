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39d1d6d6-60bc-f5fb-9b46-640c5f1c1910}">
          <p14:sldIdLst>
            <p14:sldId id="256"/>
            <p14:sldId id="257"/>
          </p14:sldIdLst>
        </p14:section>
        <p14:section name="Core content" id="{facff6e6-e4e3-c078-211a-6e913c8eaf06}">
          <p14:sldIdLst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  <p14:sldId id="270"/>
            <p14:sldId id="271"/>
            <p14:sldId id="272"/>
            <p14:sldId id="273"/>
            <p14:sldId id="274"/>
            <p14:sldId id="275"/>
            <p14:sldId id="276"/>
            <p14:sldId id="277"/>
            <p14:sldId id="278"/>
          </p14:sldIdLst>
        </p14:section>
        <p14:section name="Wrap-up" id="{142158ec-7eac-919f-bf18-0f6f10351f1d}">
          <p14:sldIdLst>
            <p14:sldId id="279"/>
            <p14:sldId id="28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Compare prior exposures among cases and controls drawn from a source population
Core concepts, study planning, analysis and interpretation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purpose and structure of the design
Plan sampling, measurement and appropriate analysis
Assess bias, interpretation, ethics and reporting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Select participants according to outcome status
Compare exposure histories in cases and controls
Understand controls as representing the exposure distribution in the population giving rise to cases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for rare outcomes or outcomes with long induction periods
Study several candidate exposures efficiently
Avoid selecting this design solely because data are retrospective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Specify the disease, exposure and source population
Define the relevant exposure window
Ask about the association without assuming causality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Hypothetical example: obesity history and meningioma diagnosis
Define cases and eligible source-population controls
Assess whether exposure data precede the outcome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Define the population and period that generated the cases
Controls must have been eligible to become cases
Ensure comparable opportunities for exposure ascertainment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consistent and valid diagnostic criteria
Consider incident versus prevalent cases
Describe all case-finding routes and exclusions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Choose controls independently of the exposure under study
Match their eligibility to the source population
Avoid convenient controls with different referral or disease pathways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Compare cumulative, case-cohort and incidence-density sampling
Explain that interpretation depends on how controls are sampled
Avoid treating all case-control odds ratios as identical estimands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Plan around exposure frequency, expected association and precision
Additional controls may improve efficiency with diminishing gains
Account for matching and available cases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individual or frequency matching only with a clear rationale
Choose variables carefully to avoid overmatching
Explain that matching requires appropriate analysis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validated records, measurements or interviews
Apply comparable procedures for cases and controls
Choose exposure windows that reduce reverse-causation concerns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standardized instruments and extraction rules
Blind exposure assessors to case status where feasible
Verify uncertain classifications systematically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Define exposed and unexposed participants among cases and controls
Label cells and totals consistently
Understand that the sampled case fraction is set by design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 exposed cases a, exposed controls b, unexposed cases c and unexposed controls d, OR is ad divided by bc
Report uncertainty with the estimate
State the exposure comparison clearly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For cumulative sampling, the OR approximates a risk ratio when the outcome is rare in the source population
Incidence-density sampling can estimate a rate ratio without a rare-outcome assumption
Do not estimate absolute risk from the case fraction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logistic regression for appropriate unmatched analyses
Consider conditional logistic regression for individually matched sets
Include the matching structure in the analytic plan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Select covariates using a causal rationale
Compare crude and adjusted estimates appropriately
Assess clinically meaningful subgroup differences without data dredging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Examine referral patterns, survival and control participation
Hospital controls may have exposure-related conditions
Explain how selection can distort the exposure contrast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Cases may remember past exposures differently from controls
Records may be incomplete or measured differently
Prefer comparable objective information when feasible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Hypothetical counts are a=40, b=20, c=60 and d=80
OR equals 2.67 after rounding
Interpret the result under the stated sampling scheme and avoid claiming a causal effect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Examine exposure definitions, control sources and missingness
Consider reverse-causation and residual-confounding scenarios
Protect sensitive health records and follow required review procedures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the case-control STROBE checklist
Explain case selection, control sampling, matching and exposure timing
Discuss why a valid source population matters more than simply increasing control count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STROBE Statement: reporting observational research. https://www.strobe-statement.org/
CDC Field Epidemiology Manual: Designing and Conducting Analytic Studies in the Field. https://www.cdc.gov/field-epi-manual/php/chapters/design-conduct-analyze-field-studies.html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chemeClr val="accen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1188720"/>
            <a:ext cx="6949440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300" b="1" spc="300" kern="0" dirty="0">
                <a:solidFill>
                  <a:schemeClr val="accent3"/>
                </a:solidFill>
              </a:defRPr>
            </a:lvl1pPr>
          </a:lstStyle>
          <a:p>
            <a:pPr indent="0" marL="0">
              <a:buNone/>
            </a:pP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1691640"/>
            <a:ext cx="6949440" cy="16916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5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5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3611880"/>
            <a:ext cx="658368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200" dirty="0">
                <a:solidFill>
                  <a:schemeClr val="bg1"/>
                </a:solidFill>
              </a:defRPr>
            </a:lvl1pPr>
          </a:lstStyle>
          <a:p>
            <a:pPr indent="0" marL="0">
              <a:buNone/>
            </a:pPr>
            <a:endParaRPr lang="en-US" sz="2200" dirty="0"/>
          </a:p>
        </p:txBody>
      </p:sp>
      <p:sp>
        <p:nvSpPr>
          <p:cNvPr id="5" name="Text 0"/>
          <p:cNvSpPr/>
          <p:nvPr>
            <p:ph idx="103" type="body" hasCustomPrompt="1"/>
          </p:nvPr>
        </p:nvSpPr>
        <p:spPr>
          <a:xfrm>
            <a:off x="548640" y="4617720"/>
            <a:ext cx="6583680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600" dirty="0">
                <a:solidFill>
                  <a:schemeClr val="accent3"/>
                </a:solidFill>
              </a:defRPr>
            </a:lvl1pPr>
          </a:lstStyle>
          <a:p>
            <a:pPr indent="0" marL="0"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3" name="Text 0"/>
          <p:cNvSpPr/>
          <p:nvPr/>
        </p:nvSpPr>
        <p:spPr>
          <a:xfrm>
            <a:off x="548640" y="63276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Quantitative Research Methods  ·  Topic 05  ·  Case-control study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 content">
    <p:bg>
      <p:bgPr>
        <a:solidFill>
          <a:schemeClr val="accen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3" name="Text 0"/>
          <p:cNvSpPr/>
          <p:nvPr/>
        </p:nvSpPr>
        <p:spPr>
          <a:xfrm>
            <a:off x="548640" y="63276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3"/>
                </a:solidFill>
              </a:rPr>
              <a:t>Quantitative Research Methods  ·  Topic 05  ·  Case-control study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image" Target="../media/image-20-3.png"/><Relationship Id="rId4" Type="http://schemas.openxmlformats.org/officeDocument/2006/relationships/image" Target="../media/image-20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24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strobe-statement.org/" TargetMode="External"/><Relationship Id="rId5" Type="http://schemas.openxmlformats.org/officeDocument/2006/relationships/hyperlink" Target="https://www.cdc.gov/field-epi-manual/php/chapters/design-conduct-analyze-field-studies.html" TargetMode="External"/><Relationship Id="rId1" Type="http://schemas.openxmlformats.org/officeDocument/2006/relationships/image" Target="../media/image-25-1.png"/><Relationship Id="rId2" Type="http://schemas.openxmlformats.org/officeDocument/2006/relationships/image" Target="../media/image-25-2.png"/><Relationship Id="rId4" Type="http://schemas.openxmlformats.org/officeDocument/2006/relationships/image" Target="../media/image-25-3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1188720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chemeClr val="accent3"/>
                </a:solidFill>
              </a:rPr>
              <a:t>QUANTITATIVE RESEARCH METHODS  ·  TOPIC 05 OF 11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1691640"/>
            <a:ext cx="69494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5400" b="1" dirty="0">
                <a:solidFill>
                  <a:schemeClr val="bg1"/>
                </a:solidFill>
              </a:rPr>
              <a:t>Case-control study</a:t>
            </a:r>
            <a:endParaRPr lang="en-US" sz="5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3611880"/>
            <a:ext cx="6583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chemeClr val="bg1"/>
                </a:solidFill>
              </a:rPr>
              <a:t>Compare prior exposures among cases and controls drawn from a source population</a:t>
            </a:r>
            <a:endParaRPr lang="en-US" sz="2200" dirty="0"/>
          </a:p>
        </p:txBody>
      </p:sp>
      <p:sp>
        <p:nvSpPr>
          <p:cNvPr id="5" name="Text 0"/>
          <p:cNvSpPr/>
          <p:nvPr>
            <p:ph idx="103" type="body" hasCustomPrompt="1"/>
          </p:nvPr>
        </p:nvSpPr>
        <p:spPr>
          <a:xfrm>
            <a:off x="548640" y="4617720"/>
            <a:ext cx="6583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3"/>
                </a:solidFill>
              </a:rPr>
              <a:t>Core concepts, study planning, analysis and interpretation</a:t>
            </a:r>
            <a:endParaRPr lang="en-US" sz="1600" dirty="0"/>
          </a:p>
        </p:txBody>
      </p:sp>
      <p:sp>
        <p:nvSpPr>
          <p:cNvPr id="6" name="Halo"/>
          <p:cNvSpPr/>
          <p:nvPr/>
        </p:nvSpPr>
        <p:spPr>
          <a:xfrm>
            <a:off x="7680960" y="1417320"/>
            <a:ext cx="4023360" cy="4023360"/>
          </a:xfrm>
          <a:prstGeom prst="ellipse">
            <a:avLst/>
          </a:prstGeom>
          <a:solidFill>
            <a:schemeClr val="accent2">
              <a:alpha val="45000"/>
            </a:schemeClr>
          </a:solidFill>
          <a:ln/>
        </p:spPr>
      </p:sp>
      <p:sp>
        <p:nvSpPr>
          <p:cNvPr id="7" name="Icon circle"/>
          <p:cNvSpPr/>
          <p:nvPr/>
        </p:nvSpPr>
        <p:spPr>
          <a:xfrm>
            <a:off x="8001000" y="1737360"/>
            <a:ext cx="3383280" cy="338328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8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46820" y="2583180"/>
            <a:ext cx="1691640" cy="169164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Learning objectives</a:t>
            </a:r>
            <a:endParaRPr lang="en-US" sz="3200" dirty="0"/>
          </a:p>
        </p:txBody>
      </p:sp>
      <p:sp>
        <p:nvSpPr>
          <p:cNvPr id="5" name="Objective 1"/>
          <p:cNvSpPr/>
          <p:nvPr/>
        </p:nvSpPr>
        <p:spPr>
          <a:xfrm>
            <a:off x="548640" y="1737360"/>
            <a:ext cx="3484778" cy="4251960"/>
          </a:xfrm>
          <a:prstGeom prst="roundRect">
            <a:avLst>
              <a:gd name="adj" fmla="val 3149"/>
            </a:avLst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Icon circle"/>
          <p:cNvSpPr/>
          <p:nvPr/>
        </p:nvSpPr>
        <p:spPr>
          <a:xfrm>
            <a:off x="914400" y="2103120"/>
            <a:ext cx="868680" cy="8686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7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1570" y="2320290"/>
            <a:ext cx="434340" cy="43434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914400" y="3200400"/>
            <a:ext cx="275325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1"/>
                </a:solidFill>
              </a:rPr>
              <a:t>OBJECTIVE 01</a:t>
            </a:r>
            <a:endParaRPr lang="en-US" sz="1200" dirty="0"/>
          </a:p>
        </p:txBody>
      </p:sp>
      <p:sp>
        <p:nvSpPr>
          <p:cNvPr id="9" name="Text 5"/>
          <p:cNvSpPr txBox="1"/>
          <p:nvPr/>
        </p:nvSpPr>
        <p:spPr>
          <a:xfrm>
            <a:off x="914400" y="3611880"/>
            <a:ext cx="2753258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Explain the purpose and structure of the design</a:t>
            </a:r>
            <a:endParaRPr lang="en-US" sz="2000" dirty="0"/>
          </a:p>
        </p:txBody>
      </p:sp>
      <p:sp>
        <p:nvSpPr>
          <p:cNvPr id="10" name="Objective 2"/>
          <p:cNvSpPr/>
          <p:nvPr/>
        </p:nvSpPr>
        <p:spPr>
          <a:xfrm>
            <a:off x="4353458" y="1737360"/>
            <a:ext cx="3484778" cy="4251960"/>
          </a:xfrm>
          <a:prstGeom prst="roundRect">
            <a:avLst>
              <a:gd name="adj" fmla="val 3149"/>
            </a:avLst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Icon circle"/>
          <p:cNvSpPr/>
          <p:nvPr/>
        </p:nvSpPr>
        <p:spPr>
          <a:xfrm>
            <a:off x="4719218" y="2103120"/>
            <a:ext cx="868680" cy="8686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2" name="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6388" y="2320290"/>
            <a:ext cx="434340" cy="43434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4719218" y="3200400"/>
            <a:ext cx="275325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1"/>
                </a:solidFill>
              </a:rPr>
              <a:t>OBJECTIVE 02</a:t>
            </a:r>
            <a:endParaRPr lang="en-US" sz="1200" dirty="0"/>
          </a:p>
        </p:txBody>
      </p:sp>
      <p:sp>
        <p:nvSpPr>
          <p:cNvPr id="14" name="Text 9"/>
          <p:cNvSpPr txBox="1"/>
          <p:nvPr/>
        </p:nvSpPr>
        <p:spPr>
          <a:xfrm>
            <a:off x="4719218" y="3611880"/>
            <a:ext cx="2753258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Plan sampling, measurement and appropriate analysis</a:t>
            </a:r>
            <a:endParaRPr lang="en-US" sz="2000" dirty="0"/>
          </a:p>
        </p:txBody>
      </p:sp>
      <p:sp>
        <p:nvSpPr>
          <p:cNvPr id="15" name="Objective 3"/>
          <p:cNvSpPr/>
          <p:nvPr/>
        </p:nvSpPr>
        <p:spPr>
          <a:xfrm>
            <a:off x="8158277" y="1737360"/>
            <a:ext cx="3484778" cy="4251960"/>
          </a:xfrm>
          <a:prstGeom prst="roundRect">
            <a:avLst>
              <a:gd name="adj" fmla="val 3149"/>
            </a:avLst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6" name="Icon circle"/>
          <p:cNvSpPr/>
          <p:nvPr/>
        </p:nvSpPr>
        <p:spPr>
          <a:xfrm>
            <a:off x="8524037" y="2103120"/>
            <a:ext cx="868680" cy="8686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7" name="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41207" y="2320290"/>
            <a:ext cx="434340" cy="434340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8524037" y="3200400"/>
            <a:ext cx="275325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1"/>
                </a:solidFill>
              </a:rPr>
              <a:t>OBJECTIVE 03</a:t>
            </a:r>
            <a:endParaRPr lang="en-US" sz="1200" dirty="0"/>
          </a:p>
        </p:txBody>
      </p:sp>
      <p:sp>
        <p:nvSpPr>
          <p:cNvPr id="19" name="Text 13"/>
          <p:cNvSpPr txBox="1"/>
          <p:nvPr/>
        </p:nvSpPr>
        <p:spPr>
          <a:xfrm>
            <a:off x="8524037" y="3611880"/>
            <a:ext cx="2753258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Assess bias, interpretation, ethics and reporting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Definition and sampling logic</a:t>
            </a:r>
            <a:endParaRPr lang="en-US" sz="3200" dirty="0"/>
          </a:p>
        </p:txBody>
      </p:sp>
      <p:sp>
        <p:nvSpPr>
          <p:cNvPr id="5" name="Lead panel"/>
          <p:cNvSpPr/>
          <p:nvPr/>
        </p:nvSpPr>
        <p:spPr>
          <a:xfrm>
            <a:off x="548640" y="1737360"/>
            <a:ext cx="11094415" cy="1600200"/>
          </a:xfrm>
          <a:prstGeom prst="roundRect">
            <a:avLst>
              <a:gd name="adj" fmla="val 8571"/>
            </a:avLst>
          </a:prstGeom>
          <a:solidFill>
            <a:schemeClr val="accent1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Icon circle"/>
          <p:cNvSpPr/>
          <p:nvPr/>
        </p:nvSpPr>
        <p:spPr>
          <a:xfrm>
            <a:off x="960120" y="2103120"/>
            <a:ext cx="868680" cy="86868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7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7290" y="2320290"/>
            <a:ext cx="434340" cy="43434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2148840" y="1737360"/>
            <a:ext cx="9082735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Select participants according to outcome status</a:t>
            </a:r>
            <a:endParaRPr lang="en-US" sz="2600" dirty="0"/>
          </a:p>
        </p:txBody>
      </p:sp>
      <p:sp>
        <p:nvSpPr>
          <p:cNvPr id="9" name="Point 2"/>
          <p:cNvSpPr/>
          <p:nvPr/>
        </p:nvSpPr>
        <p:spPr>
          <a:xfrm>
            <a:off x="548640" y="3657600"/>
            <a:ext cx="5387188" cy="233172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/>
        </p:spPr>
      </p:sp>
      <p:sp>
        <p:nvSpPr>
          <p:cNvPr id="10" name="Number 2"/>
          <p:cNvSpPr txBox="1"/>
          <p:nvPr/>
        </p:nvSpPr>
        <p:spPr>
          <a:xfrm>
            <a:off x="868680" y="4539996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02</a:t>
            </a:r>
            <a:endParaRPr lang="en-US" sz="1600" dirty="0"/>
          </a:p>
        </p:txBody>
      </p:sp>
      <p:sp>
        <p:nvSpPr>
          <p:cNvPr id="11" name="Text 7"/>
          <p:cNvSpPr txBox="1"/>
          <p:nvPr/>
        </p:nvSpPr>
        <p:spPr>
          <a:xfrm>
            <a:off x="1691640" y="3657600"/>
            <a:ext cx="3924148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Compare exposure histories in cases and controls</a:t>
            </a:r>
            <a:endParaRPr lang="en-US" sz="2000" dirty="0"/>
          </a:p>
        </p:txBody>
      </p:sp>
      <p:sp>
        <p:nvSpPr>
          <p:cNvPr id="12" name="Point 3"/>
          <p:cNvSpPr/>
          <p:nvPr/>
        </p:nvSpPr>
        <p:spPr>
          <a:xfrm>
            <a:off x="6255868" y="3657600"/>
            <a:ext cx="5387188" cy="233172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/>
        </p:spPr>
      </p:sp>
      <p:sp>
        <p:nvSpPr>
          <p:cNvPr id="13" name="Number 3"/>
          <p:cNvSpPr txBox="1"/>
          <p:nvPr/>
        </p:nvSpPr>
        <p:spPr>
          <a:xfrm>
            <a:off x="6575908" y="4539996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03</a:t>
            </a:r>
            <a:endParaRPr lang="en-US" sz="1600" dirty="0"/>
          </a:p>
        </p:txBody>
      </p:sp>
      <p:sp>
        <p:nvSpPr>
          <p:cNvPr id="14" name="Text 10"/>
          <p:cNvSpPr txBox="1"/>
          <p:nvPr/>
        </p:nvSpPr>
        <p:spPr>
          <a:xfrm>
            <a:off x="7398868" y="3657600"/>
            <a:ext cx="3924148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Understand controls as representing the exposure distribution in the population giving rise to cases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When the design fits</a:t>
            </a:r>
            <a:endParaRPr lang="en-US" sz="3200" dirty="0"/>
          </a:p>
        </p:txBody>
      </p:sp>
      <p:sp>
        <p:nvSpPr>
          <p:cNvPr id="5" name="Flow connector"/>
          <p:cNvSpPr/>
          <p:nvPr/>
        </p:nvSpPr>
        <p:spPr>
          <a:xfrm>
            <a:off x="1463040" y="2606040"/>
            <a:ext cx="6695237" cy="0"/>
          </a:xfrm>
          <a:prstGeom prst="line">
            <a:avLst/>
          </a:prstGeom>
          <a:noFill/>
          <a:ln w="31750">
            <a:solidFill>
              <a:schemeClr val="accent3"/>
            </a:solidFill>
            <a:prstDash val="solid"/>
            <a:tailEnd type="triangle"/>
          </a:ln>
        </p:spPr>
      </p:sp>
      <p:sp>
        <p:nvSpPr>
          <p:cNvPr id="6" name="Number 1"/>
          <p:cNvSpPr txBox="1"/>
          <p:nvPr/>
        </p:nvSpPr>
        <p:spPr>
          <a:xfrm>
            <a:off x="548640" y="2148840"/>
            <a:ext cx="914400" cy="9144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01</a:t>
            </a:r>
            <a:endParaRPr lang="en-US" sz="2400" dirty="0"/>
          </a:p>
        </p:txBody>
      </p:sp>
      <p:sp>
        <p:nvSpPr>
          <p:cNvPr id="7" name="Step 1 panel"/>
          <p:cNvSpPr/>
          <p:nvPr/>
        </p:nvSpPr>
        <p:spPr>
          <a:xfrm>
            <a:off x="548640" y="3429000"/>
            <a:ext cx="3484778" cy="2377440"/>
          </a:xfrm>
          <a:prstGeom prst="roundRect">
            <a:avLst>
              <a:gd name="adj" fmla="val 4615"/>
            </a:avLst>
          </a:prstGeom>
          <a:solidFill>
            <a:schemeClr val="bg2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868680" y="3429000"/>
            <a:ext cx="284469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Use for rare outcomes or outcomes with long induction periods</a:t>
            </a:r>
            <a:endParaRPr lang="en-US" sz="2200" dirty="0"/>
          </a:p>
        </p:txBody>
      </p:sp>
      <p:sp>
        <p:nvSpPr>
          <p:cNvPr id="9" name="Flow gap"/>
          <p:cNvSpPr/>
          <p:nvPr/>
        </p:nvSpPr>
        <p:spPr>
          <a:xfrm>
            <a:off x="4243730" y="2039112"/>
            <a:ext cx="1133856" cy="1133856"/>
          </a:xfrm>
          <a:prstGeom prst="ellipse">
            <a:avLst/>
          </a:prstGeom>
          <a:solidFill>
            <a:schemeClr val="bg1"/>
          </a:solidFill>
          <a:ln/>
        </p:spPr>
      </p:sp>
      <p:sp>
        <p:nvSpPr>
          <p:cNvPr id="10" name="Number 2"/>
          <p:cNvSpPr txBox="1"/>
          <p:nvPr/>
        </p:nvSpPr>
        <p:spPr>
          <a:xfrm>
            <a:off x="4353458" y="2148840"/>
            <a:ext cx="914400" cy="9144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02</a:t>
            </a:r>
            <a:endParaRPr lang="en-US" sz="2400" dirty="0"/>
          </a:p>
        </p:txBody>
      </p:sp>
      <p:sp>
        <p:nvSpPr>
          <p:cNvPr id="11" name="Step 2 panel"/>
          <p:cNvSpPr/>
          <p:nvPr/>
        </p:nvSpPr>
        <p:spPr>
          <a:xfrm>
            <a:off x="4353458" y="3429000"/>
            <a:ext cx="3484778" cy="2377440"/>
          </a:xfrm>
          <a:prstGeom prst="roundRect">
            <a:avLst>
              <a:gd name="adj" fmla="val 4615"/>
            </a:avLst>
          </a:prstGeom>
          <a:solidFill>
            <a:schemeClr val="bg2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4673498" y="3429000"/>
            <a:ext cx="284469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Study several candidate exposures efficiently</a:t>
            </a:r>
            <a:endParaRPr lang="en-US" sz="2200" dirty="0"/>
          </a:p>
        </p:txBody>
      </p:sp>
      <p:sp>
        <p:nvSpPr>
          <p:cNvPr id="13" name="Flow gap"/>
          <p:cNvSpPr/>
          <p:nvPr/>
        </p:nvSpPr>
        <p:spPr>
          <a:xfrm>
            <a:off x="8048549" y="2039112"/>
            <a:ext cx="1133856" cy="1133856"/>
          </a:xfrm>
          <a:prstGeom prst="ellipse">
            <a:avLst/>
          </a:prstGeom>
          <a:solidFill>
            <a:schemeClr val="bg1"/>
          </a:solidFill>
          <a:ln/>
        </p:spPr>
      </p:sp>
      <p:sp>
        <p:nvSpPr>
          <p:cNvPr id="14" name="Number 3"/>
          <p:cNvSpPr txBox="1"/>
          <p:nvPr/>
        </p:nvSpPr>
        <p:spPr>
          <a:xfrm>
            <a:off x="8158277" y="2148840"/>
            <a:ext cx="914400" cy="9144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03</a:t>
            </a:r>
            <a:endParaRPr lang="en-US" sz="2400" dirty="0"/>
          </a:p>
        </p:txBody>
      </p:sp>
      <p:sp>
        <p:nvSpPr>
          <p:cNvPr id="15" name="Step 3 panel"/>
          <p:cNvSpPr/>
          <p:nvPr/>
        </p:nvSpPr>
        <p:spPr>
          <a:xfrm>
            <a:off x="8158277" y="3429000"/>
            <a:ext cx="3484778" cy="2377440"/>
          </a:xfrm>
          <a:prstGeom prst="roundRect">
            <a:avLst>
              <a:gd name="adj" fmla="val 4615"/>
            </a:avLst>
          </a:prstGeom>
          <a:solidFill>
            <a:schemeClr val="bg2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8478317" y="3429000"/>
            <a:ext cx="284469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Avoid selecting this design solely because data are retrospective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Formulating the question</a:t>
            </a:r>
            <a:endParaRPr lang="en-US" sz="3200" dirty="0"/>
          </a:p>
        </p:txBody>
      </p:sp>
      <p:sp>
        <p:nvSpPr>
          <p:cNvPr id="5" name="Feature panel"/>
          <p:cNvSpPr/>
          <p:nvPr/>
        </p:nvSpPr>
        <p:spPr>
          <a:xfrm>
            <a:off x="548640" y="1737360"/>
            <a:ext cx="4572000" cy="4251960"/>
          </a:xfrm>
          <a:prstGeom prst="roundRect">
            <a:avLst>
              <a:gd name="adj" fmla="val 3226"/>
            </a:avLst>
          </a:prstGeom>
          <a:solidFill>
            <a:schemeClr val="accent1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pic>
        <p:nvPicPr>
          <p:cNvPr id="6" name="Quote mark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2103120"/>
            <a:ext cx="502920" cy="50292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645920" y="214884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3"/>
                </a:solidFill>
              </a:rPr>
              <a:t>KEY IDEA</a:t>
            </a:r>
            <a:endParaRPr lang="en-US" sz="1200" dirty="0"/>
          </a:p>
        </p:txBody>
      </p:sp>
      <p:sp>
        <p:nvSpPr>
          <p:cNvPr id="8" name="Text 4"/>
          <p:cNvSpPr txBox="1"/>
          <p:nvPr/>
        </p:nvSpPr>
        <p:spPr>
          <a:xfrm>
            <a:off x="960120" y="2880360"/>
            <a:ext cx="37490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i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Specify the disease, exposure and source population</a:t>
            </a:r>
            <a:endParaRPr lang="en-US" sz="2800" dirty="0"/>
          </a:p>
        </p:txBody>
      </p:sp>
      <p:sp>
        <p:nvSpPr>
          <p:cNvPr id="9" name="Number 2"/>
          <p:cNvSpPr txBox="1"/>
          <p:nvPr/>
        </p:nvSpPr>
        <p:spPr>
          <a:xfrm>
            <a:off x="5623560" y="192024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02</a:t>
            </a:r>
            <a:endParaRPr lang="en-US" sz="1600" dirty="0"/>
          </a:p>
        </p:txBody>
      </p:sp>
      <p:sp>
        <p:nvSpPr>
          <p:cNvPr id="10" name="Text 6"/>
          <p:cNvSpPr txBox="1"/>
          <p:nvPr/>
        </p:nvSpPr>
        <p:spPr>
          <a:xfrm>
            <a:off x="6492240" y="1965960"/>
            <a:ext cx="5150815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Define the relevant exposure window</a:t>
            </a:r>
            <a:endParaRPr lang="en-US" sz="2200" dirty="0"/>
          </a:p>
        </p:txBody>
      </p:sp>
      <p:sp>
        <p:nvSpPr>
          <p:cNvPr id="11" name="Number 3"/>
          <p:cNvSpPr txBox="1"/>
          <p:nvPr/>
        </p:nvSpPr>
        <p:spPr>
          <a:xfrm>
            <a:off x="5623560" y="397764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03</a:t>
            </a:r>
            <a:endParaRPr lang="en-US" sz="1600" dirty="0"/>
          </a:p>
        </p:txBody>
      </p:sp>
      <p:sp>
        <p:nvSpPr>
          <p:cNvPr id="12" name="Text 8"/>
          <p:cNvSpPr txBox="1"/>
          <p:nvPr/>
        </p:nvSpPr>
        <p:spPr>
          <a:xfrm>
            <a:off x="6492240" y="4023360"/>
            <a:ext cx="5150815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Ask about the association without assuming causality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Illustrative research problem</a:t>
            </a:r>
            <a:endParaRPr lang="en-US" sz="3200" dirty="0"/>
          </a:p>
        </p:txBody>
      </p:sp>
      <p:sp>
        <p:nvSpPr>
          <p:cNvPr id="5" name="Number 1"/>
          <p:cNvSpPr txBox="1"/>
          <p:nvPr/>
        </p:nvSpPr>
        <p:spPr>
          <a:xfrm>
            <a:off x="548640" y="182880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01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1417320" y="1828800"/>
            <a:ext cx="6400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Hypothetical example: obesity history and meningioma diagnosis</a:t>
            </a:r>
            <a:endParaRPr lang="en-US" sz="2200" dirty="0"/>
          </a:p>
        </p:txBody>
      </p:sp>
      <p:sp>
        <p:nvSpPr>
          <p:cNvPr id="7" name="Number 2"/>
          <p:cNvSpPr txBox="1"/>
          <p:nvPr/>
        </p:nvSpPr>
        <p:spPr>
          <a:xfrm>
            <a:off x="548640" y="324612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02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1417320" y="3246120"/>
            <a:ext cx="6400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Define cases and eligible source-population controls</a:t>
            </a:r>
            <a:endParaRPr lang="en-US" sz="2200" dirty="0"/>
          </a:p>
        </p:txBody>
      </p:sp>
      <p:sp>
        <p:nvSpPr>
          <p:cNvPr id="9" name="Number 3"/>
          <p:cNvSpPr txBox="1"/>
          <p:nvPr/>
        </p:nvSpPr>
        <p:spPr>
          <a:xfrm>
            <a:off x="548640" y="466344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03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1417320" y="4663440"/>
            <a:ext cx="6400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Assess whether exposure data precede the outcome</a:t>
            </a:r>
            <a:endParaRPr lang="en-US" sz="2200" dirty="0"/>
          </a:p>
        </p:txBody>
      </p:sp>
      <p:sp>
        <p:nvSpPr>
          <p:cNvPr id="11" name="Visual panel"/>
          <p:cNvSpPr/>
          <p:nvPr/>
        </p:nvSpPr>
        <p:spPr>
          <a:xfrm>
            <a:off x="8275320" y="1783080"/>
            <a:ext cx="3367735" cy="4206240"/>
          </a:xfrm>
          <a:prstGeom prst="roundRect">
            <a:avLst>
              <a:gd name="adj" fmla="val 4073"/>
            </a:avLst>
          </a:prstGeom>
          <a:solidFill>
            <a:schemeClr val="bg2"/>
          </a:solidFill>
          <a:ln/>
        </p:spPr>
      </p:sp>
      <p:sp>
        <p:nvSpPr>
          <p:cNvPr id="12" name="Icon circle"/>
          <p:cNvSpPr/>
          <p:nvPr/>
        </p:nvSpPr>
        <p:spPr>
          <a:xfrm>
            <a:off x="8999068" y="2926080"/>
            <a:ext cx="1920240" cy="19202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3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79128" y="3406140"/>
            <a:ext cx="960120" cy="96012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Source population and time at risk</a:t>
            </a:r>
            <a:endParaRPr lang="en-US" sz="3200" dirty="0"/>
          </a:p>
        </p:txBody>
      </p:sp>
      <p:sp>
        <p:nvSpPr>
          <p:cNvPr id="5" name="Flow connector"/>
          <p:cNvSpPr/>
          <p:nvPr/>
        </p:nvSpPr>
        <p:spPr>
          <a:xfrm>
            <a:off x="1463040" y="2606040"/>
            <a:ext cx="6695237" cy="0"/>
          </a:xfrm>
          <a:prstGeom prst="line">
            <a:avLst/>
          </a:prstGeom>
          <a:noFill/>
          <a:ln w="31750">
            <a:solidFill>
              <a:schemeClr val="accent3"/>
            </a:solidFill>
            <a:prstDash val="solid"/>
            <a:tailEnd type="triangle"/>
          </a:ln>
        </p:spPr>
      </p:sp>
      <p:sp>
        <p:nvSpPr>
          <p:cNvPr id="6" name="Number 1"/>
          <p:cNvSpPr txBox="1"/>
          <p:nvPr/>
        </p:nvSpPr>
        <p:spPr>
          <a:xfrm>
            <a:off x="548640" y="2148840"/>
            <a:ext cx="914400" cy="9144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01</a:t>
            </a:r>
            <a:endParaRPr lang="en-US" sz="2400" dirty="0"/>
          </a:p>
        </p:txBody>
      </p:sp>
      <p:sp>
        <p:nvSpPr>
          <p:cNvPr id="7" name="Step 1 panel"/>
          <p:cNvSpPr/>
          <p:nvPr/>
        </p:nvSpPr>
        <p:spPr>
          <a:xfrm>
            <a:off x="548640" y="3429000"/>
            <a:ext cx="3484778" cy="2377440"/>
          </a:xfrm>
          <a:prstGeom prst="roundRect">
            <a:avLst>
              <a:gd name="adj" fmla="val 4615"/>
            </a:avLst>
          </a:prstGeom>
          <a:solidFill>
            <a:schemeClr val="bg2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868680" y="3429000"/>
            <a:ext cx="284469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Define the population and period that generated the cases</a:t>
            </a:r>
            <a:endParaRPr lang="en-US" sz="2200" dirty="0"/>
          </a:p>
        </p:txBody>
      </p:sp>
      <p:sp>
        <p:nvSpPr>
          <p:cNvPr id="9" name="Flow gap"/>
          <p:cNvSpPr/>
          <p:nvPr/>
        </p:nvSpPr>
        <p:spPr>
          <a:xfrm>
            <a:off x="4243730" y="2039112"/>
            <a:ext cx="1133856" cy="1133856"/>
          </a:xfrm>
          <a:prstGeom prst="ellipse">
            <a:avLst/>
          </a:prstGeom>
          <a:solidFill>
            <a:schemeClr val="bg1"/>
          </a:solidFill>
          <a:ln/>
        </p:spPr>
      </p:sp>
      <p:sp>
        <p:nvSpPr>
          <p:cNvPr id="10" name="Number 2"/>
          <p:cNvSpPr txBox="1"/>
          <p:nvPr/>
        </p:nvSpPr>
        <p:spPr>
          <a:xfrm>
            <a:off x="4353458" y="2148840"/>
            <a:ext cx="914400" cy="9144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02</a:t>
            </a:r>
            <a:endParaRPr lang="en-US" sz="2400" dirty="0"/>
          </a:p>
        </p:txBody>
      </p:sp>
      <p:sp>
        <p:nvSpPr>
          <p:cNvPr id="11" name="Step 2 panel"/>
          <p:cNvSpPr/>
          <p:nvPr/>
        </p:nvSpPr>
        <p:spPr>
          <a:xfrm>
            <a:off x="4353458" y="3429000"/>
            <a:ext cx="3484778" cy="2377440"/>
          </a:xfrm>
          <a:prstGeom prst="roundRect">
            <a:avLst>
              <a:gd name="adj" fmla="val 4615"/>
            </a:avLst>
          </a:prstGeom>
          <a:solidFill>
            <a:schemeClr val="bg2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4673498" y="3429000"/>
            <a:ext cx="284469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Controls must have been eligible to become cases</a:t>
            </a:r>
            <a:endParaRPr lang="en-US" sz="2200" dirty="0"/>
          </a:p>
        </p:txBody>
      </p:sp>
      <p:sp>
        <p:nvSpPr>
          <p:cNvPr id="13" name="Flow gap"/>
          <p:cNvSpPr/>
          <p:nvPr/>
        </p:nvSpPr>
        <p:spPr>
          <a:xfrm>
            <a:off x="8048549" y="2039112"/>
            <a:ext cx="1133856" cy="1133856"/>
          </a:xfrm>
          <a:prstGeom prst="ellipse">
            <a:avLst/>
          </a:prstGeom>
          <a:solidFill>
            <a:schemeClr val="bg1"/>
          </a:solidFill>
          <a:ln/>
        </p:spPr>
      </p:sp>
      <p:sp>
        <p:nvSpPr>
          <p:cNvPr id="14" name="Number 3"/>
          <p:cNvSpPr txBox="1"/>
          <p:nvPr/>
        </p:nvSpPr>
        <p:spPr>
          <a:xfrm>
            <a:off x="8158277" y="2148840"/>
            <a:ext cx="914400" cy="9144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03</a:t>
            </a:r>
            <a:endParaRPr lang="en-US" sz="2400" dirty="0"/>
          </a:p>
        </p:txBody>
      </p:sp>
      <p:sp>
        <p:nvSpPr>
          <p:cNvPr id="15" name="Step 3 panel"/>
          <p:cNvSpPr/>
          <p:nvPr/>
        </p:nvSpPr>
        <p:spPr>
          <a:xfrm>
            <a:off x="8158277" y="3429000"/>
            <a:ext cx="3484778" cy="2377440"/>
          </a:xfrm>
          <a:prstGeom prst="roundRect">
            <a:avLst>
              <a:gd name="adj" fmla="val 4615"/>
            </a:avLst>
          </a:prstGeom>
          <a:solidFill>
            <a:schemeClr val="bg2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8478317" y="3429000"/>
            <a:ext cx="284469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Ensure comparable opportunities for exposure ascertainment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Case definition and ascertainment</a:t>
            </a:r>
            <a:endParaRPr lang="en-US" sz="3200" dirty="0"/>
          </a:p>
        </p:txBody>
      </p:sp>
      <p:sp>
        <p:nvSpPr>
          <p:cNvPr id="5" name="Lead panel"/>
          <p:cNvSpPr/>
          <p:nvPr/>
        </p:nvSpPr>
        <p:spPr>
          <a:xfrm>
            <a:off x="548640" y="1737360"/>
            <a:ext cx="11094415" cy="1600200"/>
          </a:xfrm>
          <a:prstGeom prst="roundRect">
            <a:avLst>
              <a:gd name="adj" fmla="val 8571"/>
            </a:avLst>
          </a:prstGeom>
          <a:solidFill>
            <a:schemeClr val="accent1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Icon circle"/>
          <p:cNvSpPr/>
          <p:nvPr/>
        </p:nvSpPr>
        <p:spPr>
          <a:xfrm>
            <a:off x="960120" y="2103120"/>
            <a:ext cx="868680" cy="86868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7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7290" y="2320290"/>
            <a:ext cx="434340" cy="43434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2148840" y="1737360"/>
            <a:ext cx="9082735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 consistent and valid diagnostic criteria</a:t>
            </a:r>
            <a:endParaRPr lang="en-US" sz="2600" dirty="0"/>
          </a:p>
        </p:txBody>
      </p:sp>
      <p:sp>
        <p:nvSpPr>
          <p:cNvPr id="9" name="Point 2"/>
          <p:cNvSpPr/>
          <p:nvPr/>
        </p:nvSpPr>
        <p:spPr>
          <a:xfrm>
            <a:off x="548640" y="3657600"/>
            <a:ext cx="5387188" cy="233172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/>
        </p:spPr>
      </p:sp>
      <p:sp>
        <p:nvSpPr>
          <p:cNvPr id="10" name="Number 2"/>
          <p:cNvSpPr txBox="1"/>
          <p:nvPr/>
        </p:nvSpPr>
        <p:spPr>
          <a:xfrm>
            <a:off x="868680" y="4539996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02</a:t>
            </a:r>
            <a:endParaRPr lang="en-US" sz="1600" dirty="0"/>
          </a:p>
        </p:txBody>
      </p:sp>
      <p:sp>
        <p:nvSpPr>
          <p:cNvPr id="11" name="Text 7"/>
          <p:cNvSpPr txBox="1"/>
          <p:nvPr/>
        </p:nvSpPr>
        <p:spPr>
          <a:xfrm>
            <a:off x="1691640" y="3657600"/>
            <a:ext cx="3924148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Consider incident versus prevalent cases</a:t>
            </a:r>
            <a:endParaRPr lang="en-US" sz="2000" dirty="0"/>
          </a:p>
        </p:txBody>
      </p:sp>
      <p:sp>
        <p:nvSpPr>
          <p:cNvPr id="12" name="Point 3"/>
          <p:cNvSpPr/>
          <p:nvPr/>
        </p:nvSpPr>
        <p:spPr>
          <a:xfrm>
            <a:off x="6255868" y="3657600"/>
            <a:ext cx="5387188" cy="233172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/>
        </p:spPr>
      </p:sp>
      <p:sp>
        <p:nvSpPr>
          <p:cNvPr id="13" name="Number 3"/>
          <p:cNvSpPr txBox="1"/>
          <p:nvPr/>
        </p:nvSpPr>
        <p:spPr>
          <a:xfrm>
            <a:off x="6575908" y="4539996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03</a:t>
            </a:r>
            <a:endParaRPr lang="en-US" sz="1600" dirty="0"/>
          </a:p>
        </p:txBody>
      </p:sp>
      <p:sp>
        <p:nvSpPr>
          <p:cNvPr id="14" name="Text 10"/>
          <p:cNvSpPr txBox="1"/>
          <p:nvPr/>
        </p:nvSpPr>
        <p:spPr>
          <a:xfrm>
            <a:off x="7398868" y="3657600"/>
            <a:ext cx="3924148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Describe all case-finding routes and exclusions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Selecting controls</a:t>
            </a:r>
            <a:endParaRPr lang="en-US" sz="3200" dirty="0"/>
          </a:p>
        </p:txBody>
      </p:sp>
      <p:sp>
        <p:nvSpPr>
          <p:cNvPr id="5" name="Feature panel"/>
          <p:cNvSpPr/>
          <p:nvPr/>
        </p:nvSpPr>
        <p:spPr>
          <a:xfrm>
            <a:off x="548640" y="1737360"/>
            <a:ext cx="4572000" cy="4251960"/>
          </a:xfrm>
          <a:prstGeom prst="roundRect">
            <a:avLst>
              <a:gd name="adj" fmla="val 3226"/>
            </a:avLst>
          </a:prstGeom>
          <a:solidFill>
            <a:schemeClr val="accent1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pic>
        <p:nvPicPr>
          <p:cNvPr id="6" name="Quote mark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2103120"/>
            <a:ext cx="502920" cy="50292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645920" y="214884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3"/>
                </a:solidFill>
              </a:rPr>
              <a:t>KEY IDEA</a:t>
            </a:r>
            <a:endParaRPr lang="en-US" sz="1200" dirty="0"/>
          </a:p>
        </p:txBody>
      </p:sp>
      <p:sp>
        <p:nvSpPr>
          <p:cNvPr id="8" name="Text 4"/>
          <p:cNvSpPr txBox="1"/>
          <p:nvPr/>
        </p:nvSpPr>
        <p:spPr>
          <a:xfrm>
            <a:off x="960120" y="2880360"/>
            <a:ext cx="37490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i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Choose controls independently of the exposure under study</a:t>
            </a:r>
            <a:endParaRPr lang="en-US" sz="2800" dirty="0"/>
          </a:p>
        </p:txBody>
      </p:sp>
      <p:sp>
        <p:nvSpPr>
          <p:cNvPr id="9" name="Number 2"/>
          <p:cNvSpPr txBox="1"/>
          <p:nvPr/>
        </p:nvSpPr>
        <p:spPr>
          <a:xfrm>
            <a:off x="5623560" y="192024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02</a:t>
            </a:r>
            <a:endParaRPr lang="en-US" sz="1600" dirty="0"/>
          </a:p>
        </p:txBody>
      </p:sp>
      <p:sp>
        <p:nvSpPr>
          <p:cNvPr id="10" name="Text 6"/>
          <p:cNvSpPr txBox="1"/>
          <p:nvPr/>
        </p:nvSpPr>
        <p:spPr>
          <a:xfrm>
            <a:off x="6492240" y="1965960"/>
            <a:ext cx="5150815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Match their eligibility to the source population</a:t>
            </a:r>
            <a:endParaRPr lang="en-US" sz="2200" dirty="0"/>
          </a:p>
        </p:txBody>
      </p:sp>
      <p:sp>
        <p:nvSpPr>
          <p:cNvPr id="11" name="Number 3"/>
          <p:cNvSpPr txBox="1"/>
          <p:nvPr/>
        </p:nvSpPr>
        <p:spPr>
          <a:xfrm>
            <a:off x="5623560" y="397764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03</a:t>
            </a:r>
            <a:endParaRPr lang="en-US" sz="1600" dirty="0"/>
          </a:p>
        </p:txBody>
      </p:sp>
      <p:sp>
        <p:nvSpPr>
          <p:cNvPr id="12" name="Text 8"/>
          <p:cNvSpPr txBox="1"/>
          <p:nvPr/>
        </p:nvSpPr>
        <p:spPr>
          <a:xfrm>
            <a:off x="6492240" y="4023360"/>
            <a:ext cx="5150815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Avoid convenient controls with different referral or disease pathways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Control sampling schemes</a:t>
            </a:r>
            <a:endParaRPr lang="en-US" sz="3200" dirty="0"/>
          </a:p>
        </p:txBody>
      </p:sp>
      <p:sp>
        <p:nvSpPr>
          <p:cNvPr id="5" name="Flow connector"/>
          <p:cNvSpPr/>
          <p:nvPr/>
        </p:nvSpPr>
        <p:spPr>
          <a:xfrm>
            <a:off x="1463040" y="2606040"/>
            <a:ext cx="6695237" cy="0"/>
          </a:xfrm>
          <a:prstGeom prst="line">
            <a:avLst/>
          </a:prstGeom>
          <a:noFill/>
          <a:ln w="31750">
            <a:solidFill>
              <a:schemeClr val="accent3"/>
            </a:solidFill>
            <a:prstDash val="solid"/>
            <a:tailEnd type="triangle"/>
          </a:ln>
        </p:spPr>
      </p:sp>
      <p:sp>
        <p:nvSpPr>
          <p:cNvPr id="6" name="Number 1"/>
          <p:cNvSpPr txBox="1"/>
          <p:nvPr/>
        </p:nvSpPr>
        <p:spPr>
          <a:xfrm>
            <a:off x="548640" y="2148840"/>
            <a:ext cx="914400" cy="9144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01</a:t>
            </a:r>
            <a:endParaRPr lang="en-US" sz="2400" dirty="0"/>
          </a:p>
        </p:txBody>
      </p:sp>
      <p:sp>
        <p:nvSpPr>
          <p:cNvPr id="7" name="Step 1 panel"/>
          <p:cNvSpPr/>
          <p:nvPr/>
        </p:nvSpPr>
        <p:spPr>
          <a:xfrm>
            <a:off x="548640" y="3429000"/>
            <a:ext cx="3484778" cy="2377440"/>
          </a:xfrm>
          <a:prstGeom prst="roundRect">
            <a:avLst>
              <a:gd name="adj" fmla="val 4615"/>
            </a:avLst>
          </a:prstGeom>
          <a:solidFill>
            <a:schemeClr val="bg2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868680" y="3429000"/>
            <a:ext cx="284469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Compare cumulative, case-cohort and incidence-density sampling</a:t>
            </a:r>
            <a:endParaRPr lang="en-US" sz="2200" dirty="0"/>
          </a:p>
        </p:txBody>
      </p:sp>
      <p:sp>
        <p:nvSpPr>
          <p:cNvPr id="9" name="Flow gap"/>
          <p:cNvSpPr/>
          <p:nvPr/>
        </p:nvSpPr>
        <p:spPr>
          <a:xfrm>
            <a:off x="4243730" y="2039112"/>
            <a:ext cx="1133856" cy="1133856"/>
          </a:xfrm>
          <a:prstGeom prst="ellipse">
            <a:avLst/>
          </a:prstGeom>
          <a:solidFill>
            <a:schemeClr val="bg1"/>
          </a:solidFill>
          <a:ln/>
        </p:spPr>
      </p:sp>
      <p:sp>
        <p:nvSpPr>
          <p:cNvPr id="10" name="Number 2"/>
          <p:cNvSpPr txBox="1"/>
          <p:nvPr/>
        </p:nvSpPr>
        <p:spPr>
          <a:xfrm>
            <a:off x="4353458" y="2148840"/>
            <a:ext cx="914400" cy="9144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02</a:t>
            </a:r>
            <a:endParaRPr lang="en-US" sz="2400" dirty="0"/>
          </a:p>
        </p:txBody>
      </p:sp>
      <p:sp>
        <p:nvSpPr>
          <p:cNvPr id="11" name="Step 2 panel"/>
          <p:cNvSpPr/>
          <p:nvPr/>
        </p:nvSpPr>
        <p:spPr>
          <a:xfrm>
            <a:off x="4353458" y="3429000"/>
            <a:ext cx="3484778" cy="2377440"/>
          </a:xfrm>
          <a:prstGeom prst="roundRect">
            <a:avLst>
              <a:gd name="adj" fmla="val 4615"/>
            </a:avLst>
          </a:prstGeom>
          <a:solidFill>
            <a:schemeClr val="bg2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4673498" y="3429000"/>
            <a:ext cx="284469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Explain that interpretation depends on how controls are sampled</a:t>
            </a:r>
            <a:endParaRPr lang="en-US" sz="2200" dirty="0"/>
          </a:p>
        </p:txBody>
      </p:sp>
      <p:sp>
        <p:nvSpPr>
          <p:cNvPr id="13" name="Flow gap"/>
          <p:cNvSpPr/>
          <p:nvPr/>
        </p:nvSpPr>
        <p:spPr>
          <a:xfrm>
            <a:off x="8048549" y="2039112"/>
            <a:ext cx="1133856" cy="1133856"/>
          </a:xfrm>
          <a:prstGeom prst="ellipse">
            <a:avLst/>
          </a:prstGeom>
          <a:solidFill>
            <a:schemeClr val="bg1"/>
          </a:solidFill>
          <a:ln/>
        </p:spPr>
      </p:sp>
      <p:sp>
        <p:nvSpPr>
          <p:cNvPr id="14" name="Number 3"/>
          <p:cNvSpPr txBox="1"/>
          <p:nvPr/>
        </p:nvSpPr>
        <p:spPr>
          <a:xfrm>
            <a:off x="8158277" y="2148840"/>
            <a:ext cx="914400" cy="9144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03</a:t>
            </a:r>
            <a:endParaRPr lang="en-US" sz="2400" dirty="0"/>
          </a:p>
        </p:txBody>
      </p:sp>
      <p:sp>
        <p:nvSpPr>
          <p:cNvPr id="15" name="Step 3 panel"/>
          <p:cNvSpPr/>
          <p:nvPr/>
        </p:nvSpPr>
        <p:spPr>
          <a:xfrm>
            <a:off x="8158277" y="3429000"/>
            <a:ext cx="3484778" cy="2377440"/>
          </a:xfrm>
          <a:prstGeom prst="roundRect">
            <a:avLst>
              <a:gd name="adj" fmla="val 4615"/>
            </a:avLst>
          </a:prstGeom>
          <a:solidFill>
            <a:schemeClr val="bg2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8478317" y="3429000"/>
            <a:ext cx="284469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Avoid treating all case-control odds ratios as identical estimands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Number of controls and sample planning</a:t>
            </a:r>
            <a:endParaRPr lang="en-US" sz="3200" dirty="0"/>
          </a:p>
        </p:txBody>
      </p:sp>
      <p:graphicFrame>
        <p:nvGraphicFramePr>
          <p:cNvPr id="12" name="Number of controls and sample planning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4415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9905695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spc="200" kern="0" dirty="0">
                          <a:solidFill>
                            <a:schemeClr val="bg1"/>
                          </a:solidFill>
                        </a:rPr>
                        <a:t>NO.</a:t>
                      </a:r>
                      <a:endParaRPr lang="en-US" sz="1400" dirty="0"/>
                    </a:p>
                  </a:txBody>
                  <a:tcPr marL="274320" marR="274320" marT="73152" marB="73152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spc="200" kern="0" dirty="0">
                          <a:solidFill>
                            <a:schemeClr val="bg1"/>
                          </a:solidFill>
                        </a:rPr>
                        <a:t>KEY POINT</a:t>
                      </a:r>
                      <a:endParaRPr lang="en-US" sz="1400" dirty="0"/>
                    </a:p>
                  </a:txBody>
                  <a:tcPr marL="274320" marR="274320" marT="73152" marB="73152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10972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b="1" dirty="0">
                          <a:solidFill>
                            <a:schemeClr val="accent1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01</a:t>
                      </a:r>
                      <a:endParaRPr lang="en-US" sz="2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274320" marR="274320" marT="73152" marB="73152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Plan around exposure frequency, expected association and precision</a:t>
                      </a:r>
                      <a:endParaRPr lang="en-US" sz="2000" dirty="0"/>
                    </a:p>
                  </a:txBody>
                  <a:tcPr marL="274320" marR="274320" marT="73152" marB="73152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10972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b="1" dirty="0">
                          <a:solidFill>
                            <a:schemeClr val="accent1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02</a:t>
                      </a:r>
                      <a:endParaRPr lang="en-US" sz="2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274320" marR="274320" marT="73152" marB="73152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Additional controls may improve efficiency with diminishing gains</a:t>
                      </a:r>
                      <a:endParaRPr lang="en-US" sz="2000" dirty="0"/>
                    </a:p>
                  </a:txBody>
                  <a:tcPr marL="274320" marR="274320" marT="73152" marB="73152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10972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b="1" dirty="0">
                          <a:solidFill>
                            <a:schemeClr val="accent1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03</a:t>
                      </a:r>
                      <a:endParaRPr lang="en-US" sz="2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274320" marR="274320" marT="73152" marB="73152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Account for matching and available cases</a:t>
                      </a:r>
                      <a:endParaRPr lang="en-US" sz="2000" dirty="0"/>
                    </a:p>
                  </a:txBody>
                  <a:tcPr marL="274320" marR="274320" marT="73152" marB="73152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Matching strategies</a:t>
            </a:r>
            <a:endParaRPr lang="en-US" sz="3200" dirty="0"/>
          </a:p>
        </p:txBody>
      </p:sp>
      <p:sp>
        <p:nvSpPr>
          <p:cNvPr id="5" name="Feature panel"/>
          <p:cNvSpPr/>
          <p:nvPr/>
        </p:nvSpPr>
        <p:spPr>
          <a:xfrm>
            <a:off x="548640" y="1737360"/>
            <a:ext cx="4572000" cy="4251960"/>
          </a:xfrm>
          <a:prstGeom prst="roundRect">
            <a:avLst>
              <a:gd name="adj" fmla="val 3226"/>
            </a:avLst>
          </a:prstGeom>
          <a:solidFill>
            <a:schemeClr val="accent1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pic>
        <p:nvPicPr>
          <p:cNvPr id="6" name="Quote mark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2103120"/>
            <a:ext cx="502920" cy="50292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645920" y="214884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3"/>
                </a:solidFill>
              </a:rPr>
              <a:t>KEY IDEA</a:t>
            </a:r>
            <a:endParaRPr lang="en-US" sz="1200" dirty="0"/>
          </a:p>
        </p:txBody>
      </p:sp>
      <p:sp>
        <p:nvSpPr>
          <p:cNvPr id="8" name="Text 4"/>
          <p:cNvSpPr txBox="1"/>
          <p:nvPr/>
        </p:nvSpPr>
        <p:spPr>
          <a:xfrm>
            <a:off x="960120" y="2880360"/>
            <a:ext cx="37490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i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 individual or frequency matching only with a clear rationale</a:t>
            </a:r>
            <a:endParaRPr lang="en-US" sz="2800" dirty="0"/>
          </a:p>
        </p:txBody>
      </p:sp>
      <p:sp>
        <p:nvSpPr>
          <p:cNvPr id="9" name="Number 2"/>
          <p:cNvSpPr txBox="1"/>
          <p:nvPr/>
        </p:nvSpPr>
        <p:spPr>
          <a:xfrm>
            <a:off x="5623560" y="192024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02</a:t>
            </a:r>
            <a:endParaRPr lang="en-US" sz="1600" dirty="0"/>
          </a:p>
        </p:txBody>
      </p:sp>
      <p:sp>
        <p:nvSpPr>
          <p:cNvPr id="10" name="Text 6"/>
          <p:cNvSpPr txBox="1"/>
          <p:nvPr/>
        </p:nvSpPr>
        <p:spPr>
          <a:xfrm>
            <a:off x="6492240" y="1965960"/>
            <a:ext cx="5150815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Choose variables carefully to avoid overmatching</a:t>
            </a:r>
            <a:endParaRPr lang="en-US" sz="2200" dirty="0"/>
          </a:p>
        </p:txBody>
      </p:sp>
      <p:sp>
        <p:nvSpPr>
          <p:cNvPr id="11" name="Number 3"/>
          <p:cNvSpPr txBox="1"/>
          <p:nvPr/>
        </p:nvSpPr>
        <p:spPr>
          <a:xfrm>
            <a:off x="5623560" y="397764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03</a:t>
            </a:r>
            <a:endParaRPr lang="en-US" sz="1600" dirty="0"/>
          </a:p>
        </p:txBody>
      </p:sp>
      <p:sp>
        <p:nvSpPr>
          <p:cNvPr id="12" name="Text 8"/>
          <p:cNvSpPr txBox="1"/>
          <p:nvPr/>
        </p:nvSpPr>
        <p:spPr>
          <a:xfrm>
            <a:off x="6492240" y="4023360"/>
            <a:ext cx="5150815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Explain that matching requires appropriate analysis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Exposure ascertainment</a:t>
            </a:r>
            <a:endParaRPr lang="en-US" sz="3200" dirty="0"/>
          </a:p>
        </p:txBody>
      </p:sp>
      <p:sp>
        <p:nvSpPr>
          <p:cNvPr id="5" name="Flow connector"/>
          <p:cNvSpPr/>
          <p:nvPr/>
        </p:nvSpPr>
        <p:spPr>
          <a:xfrm>
            <a:off x="1463040" y="2606040"/>
            <a:ext cx="6695237" cy="0"/>
          </a:xfrm>
          <a:prstGeom prst="line">
            <a:avLst/>
          </a:prstGeom>
          <a:noFill/>
          <a:ln w="31750">
            <a:solidFill>
              <a:schemeClr val="accent3"/>
            </a:solidFill>
            <a:prstDash val="solid"/>
            <a:tailEnd type="triangle"/>
          </a:ln>
        </p:spPr>
      </p:sp>
      <p:sp>
        <p:nvSpPr>
          <p:cNvPr id="6" name="Number 1"/>
          <p:cNvSpPr txBox="1"/>
          <p:nvPr/>
        </p:nvSpPr>
        <p:spPr>
          <a:xfrm>
            <a:off x="548640" y="2148840"/>
            <a:ext cx="914400" cy="9144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01</a:t>
            </a:r>
            <a:endParaRPr lang="en-US" sz="2400" dirty="0"/>
          </a:p>
        </p:txBody>
      </p:sp>
      <p:sp>
        <p:nvSpPr>
          <p:cNvPr id="7" name="Step 1 panel"/>
          <p:cNvSpPr/>
          <p:nvPr/>
        </p:nvSpPr>
        <p:spPr>
          <a:xfrm>
            <a:off x="548640" y="3429000"/>
            <a:ext cx="3484778" cy="2377440"/>
          </a:xfrm>
          <a:prstGeom prst="roundRect">
            <a:avLst>
              <a:gd name="adj" fmla="val 4615"/>
            </a:avLst>
          </a:prstGeom>
          <a:solidFill>
            <a:schemeClr val="bg2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868680" y="3429000"/>
            <a:ext cx="284469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Use validated records, measurements or interviews</a:t>
            </a:r>
            <a:endParaRPr lang="en-US" sz="2200" dirty="0"/>
          </a:p>
        </p:txBody>
      </p:sp>
      <p:sp>
        <p:nvSpPr>
          <p:cNvPr id="9" name="Flow gap"/>
          <p:cNvSpPr/>
          <p:nvPr/>
        </p:nvSpPr>
        <p:spPr>
          <a:xfrm>
            <a:off x="4243730" y="2039112"/>
            <a:ext cx="1133856" cy="1133856"/>
          </a:xfrm>
          <a:prstGeom prst="ellipse">
            <a:avLst/>
          </a:prstGeom>
          <a:solidFill>
            <a:schemeClr val="bg1"/>
          </a:solidFill>
          <a:ln/>
        </p:spPr>
      </p:sp>
      <p:sp>
        <p:nvSpPr>
          <p:cNvPr id="10" name="Number 2"/>
          <p:cNvSpPr txBox="1"/>
          <p:nvPr/>
        </p:nvSpPr>
        <p:spPr>
          <a:xfrm>
            <a:off x="4353458" y="2148840"/>
            <a:ext cx="914400" cy="9144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02</a:t>
            </a:r>
            <a:endParaRPr lang="en-US" sz="2400" dirty="0"/>
          </a:p>
        </p:txBody>
      </p:sp>
      <p:sp>
        <p:nvSpPr>
          <p:cNvPr id="11" name="Step 2 panel"/>
          <p:cNvSpPr/>
          <p:nvPr/>
        </p:nvSpPr>
        <p:spPr>
          <a:xfrm>
            <a:off x="4353458" y="3429000"/>
            <a:ext cx="3484778" cy="2377440"/>
          </a:xfrm>
          <a:prstGeom prst="roundRect">
            <a:avLst>
              <a:gd name="adj" fmla="val 4615"/>
            </a:avLst>
          </a:prstGeom>
          <a:solidFill>
            <a:schemeClr val="bg2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4673498" y="3429000"/>
            <a:ext cx="284469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Apply comparable procedures for cases and controls</a:t>
            </a:r>
            <a:endParaRPr lang="en-US" sz="2200" dirty="0"/>
          </a:p>
        </p:txBody>
      </p:sp>
      <p:sp>
        <p:nvSpPr>
          <p:cNvPr id="13" name="Flow gap"/>
          <p:cNvSpPr/>
          <p:nvPr/>
        </p:nvSpPr>
        <p:spPr>
          <a:xfrm>
            <a:off x="8048549" y="2039112"/>
            <a:ext cx="1133856" cy="1133856"/>
          </a:xfrm>
          <a:prstGeom prst="ellipse">
            <a:avLst/>
          </a:prstGeom>
          <a:solidFill>
            <a:schemeClr val="bg1"/>
          </a:solidFill>
          <a:ln/>
        </p:spPr>
      </p:sp>
      <p:sp>
        <p:nvSpPr>
          <p:cNvPr id="14" name="Number 3"/>
          <p:cNvSpPr txBox="1"/>
          <p:nvPr/>
        </p:nvSpPr>
        <p:spPr>
          <a:xfrm>
            <a:off x="8158277" y="2148840"/>
            <a:ext cx="914400" cy="9144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03</a:t>
            </a:r>
            <a:endParaRPr lang="en-US" sz="2400" dirty="0"/>
          </a:p>
        </p:txBody>
      </p:sp>
      <p:sp>
        <p:nvSpPr>
          <p:cNvPr id="15" name="Step 3 panel"/>
          <p:cNvSpPr/>
          <p:nvPr/>
        </p:nvSpPr>
        <p:spPr>
          <a:xfrm>
            <a:off x="8158277" y="3429000"/>
            <a:ext cx="3484778" cy="2377440"/>
          </a:xfrm>
          <a:prstGeom prst="roundRect">
            <a:avLst>
              <a:gd name="adj" fmla="val 4615"/>
            </a:avLst>
          </a:prstGeom>
          <a:solidFill>
            <a:schemeClr val="bg2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8478317" y="3429000"/>
            <a:ext cx="284469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Choose exposure windows that reduce reverse-causation concerns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Data quality and blinding</a:t>
            </a:r>
            <a:endParaRPr lang="en-US" sz="3200" dirty="0"/>
          </a:p>
        </p:txBody>
      </p:sp>
      <p:sp>
        <p:nvSpPr>
          <p:cNvPr id="5" name="Check row 1"/>
          <p:cNvSpPr/>
          <p:nvPr/>
        </p:nvSpPr>
        <p:spPr>
          <a:xfrm>
            <a:off x="548640" y="1828800"/>
            <a:ext cx="11094415" cy="1143000"/>
          </a:xfrm>
          <a:prstGeom prst="roundRect">
            <a:avLst>
              <a:gd name="adj" fmla="val 9600"/>
            </a:avLst>
          </a:prstGeom>
          <a:solidFill>
            <a:schemeClr val="bg2"/>
          </a:solidFill>
          <a:ln/>
        </p:spPr>
      </p:sp>
      <p:sp>
        <p:nvSpPr>
          <p:cNvPr id="6" name="Icon circle"/>
          <p:cNvSpPr/>
          <p:nvPr/>
        </p:nvSpPr>
        <p:spPr>
          <a:xfrm>
            <a:off x="868680" y="2116836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7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0412" y="2258568"/>
            <a:ext cx="283464" cy="283464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737360" y="1828800"/>
            <a:ext cx="953993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Use standardized instruments and extraction rules</a:t>
            </a:r>
            <a:endParaRPr lang="en-US" sz="2200" dirty="0"/>
          </a:p>
        </p:txBody>
      </p:sp>
      <p:sp>
        <p:nvSpPr>
          <p:cNvPr id="9" name="Check row 2"/>
          <p:cNvSpPr/>
          <p:nvPr/>
        </p:nvSpPr>
        <p:spPr>
          <a:xfrm>
            <a:off x="548640" y="3246120"/>
            <a:ext cx="11094415" cy="1143000"/>
          </a:xfrm>
          <a:prstGeom prst="roundRect">
            <a:avLst>
              <a:gd name="adj" fmla="val 9600"/>
            </a:avLst>
          </a:prstGeom>
          <a:solidFill>
            <a:schemeClr val="bg2"/>
          </a:solidFill>
          <a:ln/>
        </p:spPr>
      </p:sp>
      <p:sp>
        <p:nvSpPr>
          <p:cNvPr id="10" name="Icon circle"/>
          <p:cNvSpPr/>
          <p:nvPr/>
        </p:nvSpPr>
        <p:spPr>
          <a:xfrm>
            <a:off x="868680" y="3534156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1" name="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0412" y="3675888"/>
            <a:ext cx="283464" cy="283464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1737360" y="3246120"/>
            <a:ext cx="953993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Blind exposure assessors to case status where feasible</a:t>
            </a:r>
            <a:endParaRPr lang="en-US" sz="2200" dirty="0"/>
          </a:p>
        </p:txBody>
      </p:sp>
      <p:sp>
        <p:nvSpPr>
          <p:cNvPr id="13" name="Check row 3"/>
          <p:cNvSpPr/>
          <p:nvPr/>
        </p:nvSpPr>
        <p:spPr>
          <a:xfrm>
            <a:off x="548640" y="4663440"/>
            <a:ext cx="11094415" cy="1143000"/>
          </a:xfrm>
          <a:prstGeom prst="roundRect">
            <a:avLst>
              <a:gd name="adj" fmla="val 9600"/>
            </a:avLst>
          </a:prstGeom>
          <a:solidFill>
            <a:schemeClr val="bg2"/>
          </a:solidFill>
          <a:ln/>
        </p:spPr>
      </p:sp>
      <p:sp>
        <p:nvSpPr>
          <p:cNvPr id="14" name="Icon circle"/>
          <p:cNvSpPr/>
          <p:nvPr/>
        </p:nvSpPr>
        <p:spPr>
          <a:xfrm>
            <a:off x="868680" y="4951476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5" name="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0412" y="5093208"/>
            <a:ext cx="283464" cy="283464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1737360" y="4663440"/>
            <a:ext cx="953993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Verify uncertain classifications systematically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The 2-by-2 table</a:t>
            </a:r>
            <a:endParaRPr lang="en-US" sz="3200" dirty="0"/>
          </a:p>
        </p:txBody>
      </p:sp>
      <p:graphicFrame>
        <p:nvGraphicFramePr>
          <p:cNvPr id="16" name="The 2-by-2 table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4415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9905695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spc="200" kern="0" dirty="0">
                          <a:solidFill>
                            <a:schemeClr val="bg1"/>
                          </a:solidFill>
                        </a:rPr>
                        <a:t>NO.</a:t>
                      </a:r>
                      <a:endParaRPr lang="en-US" sz="1400" dirty="0"/>
                    </a:p>
                  </a:txBody>
                  <a:tcPr marL="274320" marR="274320" marT="73152" marB="73152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spc="200" kern="0" dirty="0">
                          <a:solidFill>
                            <a:schemeClr val="bg1"/>
                          </a:solidFill>
                        </a:rPr>
                        <a:t>KEY POINT</a:t>
                      </a:r>
                      <a:endParaRPr lang="en-US" sz="1400" dirty="0"/>
                    </a:p>
                  </a:txBody>
                  <a:tcPr marL="274320" marR="274320" marT="73152" marB="73152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10972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b="1" dirty="0">
                          <a:solidFill>
                            <a:schemeClr val="accent1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01</a:t>
                      </a:r>
                      <a:endParaRPr lang="en-US" sz="2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274320" marR="274320" marT="73152" marB="73152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Define exposed and unexposed participants among cases and controls</a:t>
                      </a:r>
                      <a:endParaRPr lang="en-US" sz="2000" dirty="0"/>
                    </a:p>
                  </a:txBody>
                  <a:tcPr marL="274320" marR="274320" marT="73152" marB="73152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10972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b="1" dirty="0">
                          <a:solidFill>
                            <a:schemeClr val="accent1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02</a:t>
                      </a:r>
                      <a:endParaRPr lang="en-US" sz="2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274320" marR="274320" marT="73152" marB="73152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Label cells and totals consistently</a:t>
                      </a:r>
                      <a:endParaRPr lang="en-US" sz="2000" dirty="0"/>
                    </a:p>
                  </a:txBody>
                  <a:tcPr marL="274320" marR="274320" marT="73152" marB="73152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10972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b="1" dirty="0">
                          <a:solidFill>
                            <a:schemeClr val="accent1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03</a:t>
                      </a:r>
                      <a:endParaRPr lang="en-US" sz="2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274320" marR="274320" marT="73152" marB="73152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Understand that the sampled case fraction is set by design</a:t>
                      </a:r>
                      <a:endParaRPr lang="en-US" sz="2000" dirty="0"/>
                    </a:p>
                  </a:txBody>
                  <a:tcPr marL="274320" marR="274320" marT="73152" marB="73152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Calculating the odds ratio</a:t>
            </a:r>
            <a:endParaRPr lang="en-US" sz="3200" dirty="0"/>
          </a:p>
        </p:txBody>
      </p:sp>
      <p:graphicFrame>
        <p:nvGraphicFramePr>
          <p:cNvPr id="17" name="Two-by-two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37360"/>
          <a:ext cx="512064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1691640"/>
                <a:gridCol w="1691640"/>
              </a:tblGrid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600" dirty="0"/>
                    </a:p>
                  </a:txBody>
                  <a:tcPr marL="182880" marR="182880" marT="45720" marB="45720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Cases</a:t>
                      </a:r>
                      <a:endParaRPr lang="en-US" sz="1600" dirty="0"/>
                    </a:p>
                  </a:txBody>
                  <a:tcPr marL="182880" marR="182880" marT="45720" marB="45720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Controls</a:t>
                      </a:r>
                      <a:endParaRPr lang="en-US" sz="1600" dirty="0"/>
                    </a:p>
                  </a:txBody>
                  <a:tcPr marL="182880" marR="182880" marT="45720" marB="45720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9601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Exposed</a:t>
                      </a:r>
                      <a:endParaRPr lang="en-US" sz="1600" dirty="0"/>
                    </a:p>
                  </a:txBody>
                  <a:tcPr marL="182880" marR="182880" marT="45720" marB="45720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3200" b="1" i="1" dirty="0">
                          <a:solidFill>
                            <a:schemeClr val="accent1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</a:t>
                      </a:r>
                      <a:endParaRPr lang="en-US" sz="3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182880" marR="182880" marT="45720" marB="45720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3200" b="1" i="1" dirty="0">
                          <a:solidFill>
                            <a:schemeClr val="accent1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</a:t>
                      </a:r>
                      <a:endParaRPr lang="en-US" sz="3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182880" marR="182880" marT="45720" marB="45720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9601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Unexposed</a:t>
                      </a:r>
                      <a:endParaRPr lang="en-US" sz="1600" dirty="0"/>
                    </a:p>
                  </a:txBody>
                  <a:tcPr marL="182880" marR="182880" marT="45720" marB="45720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3200" b="1" i="1" dirty="0">
                          <a:solidFill>
                            <a:schemeClr val="accent1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</a:t>
                      </a:r>
                      <a:endParaRPr lang="en-US" sz="3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182880" marR="182880" marT="45720" marB="45720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3200" b="1" i="1" dirty="0">
                          <a:solidFill>
                            <a:schemeClr val="accent1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</a:t>
                      </a:r>
                      <a:endParaRPr lang="en-US" sz="3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182880" marR="182880" marT="45720" marB="45720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6" name="Odds ratio formula"/>
          <p:cNvSpPr/>
          <p:nvPr/>
        </p:nvSpPr>
        <p:spPr>
          <a:xfrm>
            <a:off x="548640" y="4526280"/>
            <a:ext cx="5120640" cy="1463040"/>
          </a:xfrm>
          <a:prstGeom prst="roundRect">
            <a:avLst>
              <a:gd name="adj" fmla="val 9375"/>
            </a:avLst>
          </a:prstGeom>
          <a:solidFill>
            <a:schemeClr val="accent1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Text 3"/>
          <p:cNvSpPr txBox="1"/>
          <p:nvPr/>
        </p:nvSpPr>
        <p:spPr>
          <a:xfrm>
            <a:off x="960120" y="4526280"/>
            <a:ext cx="4297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Bef>
                <a:spcPts val="400"/>
              </a:spcBef>
              <a:buNone/>
            </a:pPr>
            <a:r>
              <a:rPr lang="en-US" sz="1200" b="1" spc="300" kern="0" dirty="0">
                <a:solidFill>
                  <a:schemeClr val="accent3"/>
                </a:solidFill>
              </a:rPr>
              <a:t>ODDS RATIO</a:t>
            </a:r>
            <a:endParaRPr lang="en-US" sz="12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2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 = (a × d) ÷ (b × c)</a:t>
            </a:r>
            <a:endParaRPr lang="en-US" sz="1200" dirty="0"/>
          </a:p>
        </p:txBody>
      </p:sp>
      <p:sp>
        <p:nvSpPr>
          <p:cNvPr id="8" name="Number 1"/>
          <p:cNvSpPr txBox="1"/>
          <p:nvPr/>
        </p:nvSpPr>
        <p:spPr>
          <a:xfrm>
            <a:off x="6172200" y="182880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01</a:t>
            </a:r>
            <a:endParaRPr lang="en-US" sz="1600" dirty="0"/>
          </a:p>
        </p:txBody>
      </p:sp>
      <p:sp>
        <p:nvSpPr>
          <p:cNvPr id="9" name="Text 5"/>
          <p:cNvSpPr txBox="1"/>
          <p:nvPr/>
        </p:nvSpPr>
        <p:spPr>
          <a:xfrm>
            <a:off x="7040880" y="1874520"/>
            <a:ext cx="4602175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With exposed cases a, exposed controls b, unexposed cases c and unexposed controls d, OR is ad divided by bc</a:t>
            </a:r>
            <a:endParaRPr lang="en-US" sz="2200" dirty="0"/>
          </a:p>
        </p:txBody>
      </p:sp>
      <p:sp>
        <p:nvSpPr>
          <p:cNvPr id="10" name="Number 2"/>
          <p:cNvSpPr txBox="1"/>
          <p:nvPr/>
        </p:nvSpPr>
        <p:spPr>
          <a:xfrm>
            <a:off x="6172200" y="324612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02</a:t>
            </a:r>
            <a:endParaRPr lang="en-US" sz="1600" dirty="0"/>
          </a:p>
        </p:txBody>
      </p:sp>
      <p:sp>
        <p:nvSpPr>
          <p:cNvPr id="11" name="Text 7"/>
          <p:cNvSpPr txBox="1"/>
          <p:nvPr/>
        </p:nvSpPr>
        <p:spPr>
          <a:xfrm>
            <a:off x="7040880" y="3291840"/>
            <a:ext cx="4602175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Report uncertainty with the estimate</a:t>
            </a:r>
            <a:endParaRPr lang="en-US" sz="2200" dirty="0"/>
          </a:p>
        </p:txBody>
      </p:sp>
      <p:sp>
        <p:nvSpPr>
          <p:cNvPr id="12" name="Number 3"/>
          <p:cNvSpPr txBox="1"/>
          <p:nvPr/>
        </p:nvSpPr>
        <p:spPr>
          <a:xfrm>
            <a:off x="6172200" y="466344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03</a:t>
            </a:r>
            <a:endParaRPr lang="en-US" sz="1600" dirty="0"/>
          </a:p>
        </p:txBody>
      </p:sp>
      <p:sp>
        <p:nvSpPr>
          <p:cNvPr id="13" name="Text 9"/>
          <p:cNvSpPr txBox="1"/>
          <p:nvPr/>
        </p:nvSpPr>
        <p:spPr>
          <a:xfrm>
            <a:off x="7040880" y="4709160"/>
            <a:ext cx="4602175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State the exposure comparison clearly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Interpreting the odds ratio</a:t>
            </a:r>
            <a:endParaRPr lang="en-US" sz="3200" dirty="0"/>
          </a:p>
        </p:txBody>
      </p:sp>
      <p:graphicFrame>
        <p:nvGraphicFramePr>
          <p:cNvPr id="18" name="Interpreting the odds ratio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4415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9905695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spc="200" kern="0" dirty="0">
                          <a:solidFill>
                            <a:schemeClr val="bg1"/>
                          </a:solidFill>
                        </a:rPr>
                        <a:t>NO.</a:t>
                      </a:r>
                      <a:endParaRPr lang="en-US" sz="1400" dirty="0"/>
                    </a:p>
                  </a:txBody>
                  <a:tcPr marL="274320" marR="274320" marT="73152" marB="73152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spc="200" kern="0" dirty="0">
                          <a:solidFill>
                            <a:schemeClr val="bg1"/>
                          </a:solidFill>
                        </a:rPr>
                        <a:t>KEY POINT</a:t>
                      </a:r>
                      <a:endParaRPr lang="en-US" sz="1400" dirty="0"/>
                    </a:p>
                  </a:txBody>
                  <a:tcPr marL="274320" marR="274320" marT="73152" marB="73152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10972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b="1" dirty="0">
                          <a:solidFill>
                            <a:schemeClr val="accent1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01</a:t>
                      </a:r>
                      <a:endParaRPr lang="en-US" sz="2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274320" marR="274320" marT="73152" marB="73152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For cumulative sampling, the OR approximates a risk ratio when the outcome is rare in the source population</a:t>
                      </a:r>
                      <a:endParaRPr lang="en-US" sz="2000" dirty="0"/>
                    </a:p>
                  </a:txBody>
                  <a:tcPr marL="274320" marR="274320" marT="73152" marB="73152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10972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b="1" dirty="0">
                          <a:solidFill>
                            <a:schemeClr val="accent1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02</a:t>
                      </a:r>
                      <a:endParaRPr lang="en-US" sz="2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274320" marR="274320" marT="73152" marB="73152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Incidence-density sampling can estimate a rate ratio without a rare-outcome assumption</a:t>
                      </a:r>
                      <a:endParaRPr lang="en-US" sz="2000" dirty="0"/>
                    </a:p>
                  </a:txBody>
                  <a:tcPr marL="274320" marR="274320" marT="73152" marB="73152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10972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b="1" dirty="0">
                          <a:solidFill>
                            <a:schemeClr val="accent1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03</a:t>
                      </a:r>
                      <a:endParaRPr lang="en-US" sz="2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274320" marR="274320" marT="73152" marB="73152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Do not estimate absolute risk from the case fraction</a:t>
                      </a:r>
                      <a:endParaRPr lang="en-US" sz="2000" dirty="0"/>
                    </a:p>
                  </a:txBody>
                  <a:tcPr marL="274320" marR="274320" marT="73152" marB="73152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Regression and matched analysis</a:t>
            </a:r>
            <a:endParaRPr lang="en-US" sz="3200" dirty="0"/>
          </a:p>
        </p:txBody>
      </p:sp>
      <p:sp>
        <p:nvSpPr>
          <p:cNvPr id="5" name="Card 1"/>
          <p:cNvSpPr/>
          <p:nvPr/>
        </p:nvSpPr>
        <p:spPr>
          <a:xfrm>
            <a:off x="548640" y="2057400"/>
            <a:ext cx="3484778" cy="3383280"/>
          </a:xfrm>
          <a:prstGeom prst="roundRect">
            <a:avLst>
              <a:gd name="adj" fmla="val 3243"/>
            </a:avLst>
          </a:prstGeom>
          <a:solidFill>
            <a:schemeClr val="bg2"/>
          </a:solidFill>
          <a:ln/>
        </p:spPr>
      </p:sp>
      <p:sp>
        <p:nvSpPr>
          <p:cNvPr id="6" name="Number 1"/>
          <p:cNvSpPr txBox="1"/>
          <p:nvPr/>
        </p:nvSpPr>
        <p:spPr>
          <a:xfrm>
            <a:off x="914400" y="242316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01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914400" y="3383280"/>
            <a:ext cx="275325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Use logistic regression for appropriate unmatched analyses</a:t>
            </a:r>
            <a:endParaRPr lang="en-US" sz="2200" dirty="0"/>
          </a:p>
        </p:txBody>
      </p:sp>
      <p:sp>
        <p:nvSpPr>
          <p:cNvPr id="8" name="Card 2"/>
          <p:cNvSpPr/>
          <p:nvPr/>
        </p:nvSpPr>
        <p:spPr>
          <a:xfrm>
            <a:off x="4353458" y="2057400"/>
            <a:ext cx="3484778" cy="3383280"/>
          </a:xfrm>
          <a:prstGeom prst="roundRect">
            <a:avLst>
              <a:gd name="adj" fmla="val 3243"/>
            </a:avLst>
          </a:prstGeom>
          <a:solidFill>
            <a:schemeClr val="bg2"/>
          </a:solidFill>
          <a:ln/>
        </p:spPr>
      </p:sp>
      <p:sp>
        <p:nvSpPr>
          <p:cNvPr id="9" name="Number 2"/>
          <p:cNvSpPr txBox="1"/>
          <p:nvPr/>
        </p:nvSpPr>
        <p:spPr>
          <a:xfrm>
            <a:off x="4719218" y="242316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02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4719218" y="3383280"/>
            <a:ext cx="275325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Consider conditional logistic regression for individually matched sets</a:t>
            </a:r>
            <a:endParaRPr lang="en-US" sz="2200" dirty="0"/>
          </a:p>
        </p:txBody>
      </p:sp>
      <p:sp>
        <p:nvSpPr>
          <p:cNvPr id="11" name="Card 3"/>
          <p:cNvSpPr/>
          <p:nvPr/>
        </p:nvSpPr>
        <p:spPr>
          <a:xfrm>
            <a:off x="8158277" y="2057400"/>
            <a:ext cx="3484778" cy="3383280"/>
          </a:xfrm>
          <a:prstGeom prst="roundRect">
            <a:avLst>
              <a:gd name="adj" fmla="val 3243"/>
            </a:avLst>
          </a:prstGeom>
          <a:solidFill>
            <a:schemeClr val="bg2"/>
          </a:solidFill>
          <a:ln/>
        </p:spPr>
      </p:sp>
      <p:sp>
        <p:nvSpPr>
          <p:cNvPr id="12" name="Number 3"/>
          <p:cNvSpPr txBox="1"/>
          <p:nvPr/>
        </p:nvSpPr>
        <p:spPr>
          <a:xfrm>
            <a:off x="8524037" y="242316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03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8524037" y="3383280"/>
            <a:ext cx="275325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Include the matching structure in the analytic plan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Confounding and effect modification</a:t>
            </a:r>
            <a:endParaRPr lang="en-US" sz="3200" dirty="0"/>
          </a:p>
        </p:txBody>
      </p:sp>
      <p:sp>
        <p:nvSpPr>
          <p:cNvPr id="5" name="Flow connector"/>
          <p:cNvSpPr/>
          <p:nvPr/>
        </p:nvSpPr>
        <p:spPr>
          <a:xfrm>
            <a:off x="1463040" y="2606040"/>
            <a:ext cx="6695237" cy="0"/>
          </a:xfrm>
          <a:prstGeom prst="line">
            <a:avLst/>
          </a:prstGeom>
          <a:noFill/>
          <a:ln w="31750">
            <a:solidFill>
              <a:schemeClr val="accent3"/>
            </a:solidFill>
            <a:prstDash val="solid"/>
            <a:tailEnd type="triangle"/>
          </a:ln>
        </p:spPr>
      </p:sp>
      <p:sp>
        <p:nvSpPr>
          <p:cNvPr id="6" name="Number 1"/>
          <p:cNvSpPr txBox="1"/>
          <p:nvPr/>
        </p:nvSpPr>
        <p:spPr>
          <a:xfrm>
            <a:off x="548640" y="2148840"/>
            <a:ext cx="914400" cy="9144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01</a:t>
            </a:r>
            <a:endParaRPr lang="en-US" sz="2400" dirty="0"/>
          </a:p>
        </p:txBody>
      </p:sp>
      <p:sp>
        <p:nvSpPr>
          <p:cNvPr id="7" name="Step 1 panel"/>
          <p:cNvSpPr/>
          <p:nvPr/>
        </p:nvSpPr>
        <p:spPr>
          <a:xfrm>
            <a:off x="548640" y="3429000"/>
            <a:ext cx="3484778" cy="2377440"/>
          </a:xfrm>
          <a:prstGeom prst="roundRect">
            <a:avLst>
              <a:gd name="adj" fmla="val 4615"/>
            </a:avLst>
          </a:prstGeom>
          <a:solidFill>
            <a:schemeClr val="bg2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868680" y="3429000"/>
            <a:ext cx="284469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Select covariates using a causal rationale</a:t>
            </a:r>
            <a:endParaRPr lang="en-US" sz="2200" dirty="0"/>
          </a:p>
        </p:txBody>
      </p:sp>
      <p:sp>
        <p:nvSpPr>
          <p:cNvPr id="9" name="Flow gap"/>
          <p:cNvSpPr/>
          <p:nvPr/>
        </p:nvSpPr>
        <p:spPr>
          <a:xfrm>
            <a:off x="4243730" y="2039112"/>
            <a:ext cx="1133856" cy="1133856"/>
          </a:xfrm>
          <a:prstGeom prst="ellipse">
            <a:avLst/>
          </a:prstGeom>
          <a:solidFill>
            <a:schemeClr val="bg1"/>
          </a:solidFill>
          <a:ln/>
        </p:spPr>
      </p:sp>
      <p:sp>
        <p:nvSpPr>
          <p:cNvPr id="10" name="Number 2"/>
          <p:cNvSpPr txBox="1"/>
          <p:nvPr/>
        </p:nvSpPr>
        <p:spPr>
          <a:xfrm>
            <a:off x="4353458" y="2148840"/>
            <a:ext cx="914400" cy="9144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02</a:t>
            </a:r>
            <a:endParaRPr lang="en-US" sz="2400" dirty="0"/>
          </a:p>
        </p:txBody>
      </p:sp>
      <p:sp>
        <p:nvSpPr>
          <p:cNvPr id="11" name="Step 2 panel"/>
          <p:cNvSpPr/>
          <p:nvPr/>
        </p:nvSpPr>
        <p:spPr>
          <a:xfrm>
            <a:off x="4353458" y="3429000"/>
            <a:ext cx="3484778" cy="2377440"/>
          </a:xfrm>
          <a:prstGeom prst="roundRect">
            <a:avLst>
              <a:gd name="adj" fmla="val 4615"/>
            </a:avLst>
          </a:prstGeom>
          <a:solidFill>
            <a:schemeClr val="bg2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4673498" y="3429000"/>
            <a:ext cx="284469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Compare crude and adjusted estimates appropriately</a:t>
            </a:r>
            <a:endParaRPr lang="en-US" sz="2200" dirty="0"/>
          </a:p>
        </p:txBody>
      </p:sp>
      <p:sp>
        <p:nvSpPr>
          <p:cNvPr id="13" name="Flow gap"/>
          <p:cNvSpPr/>
          <p:nvPr/>
        </p:nvSpPr>
        <p:spPr>
          <a:xfrm>
            <a:off x="8048549" y="2039112"/>
            <a:ext cx="1133856" cy="1133856"/>
          </a:xfrm>
          <a:prstGeom prst="ellipse">
            <a:avLst/>
          </a:prstGeom>
          <a:solidFill>
            <a:schemeClr val="bg1"/>
          </a:solidFill>
          <a:ln/>
        </p:spPr>
      </p:sp>
      <p:sp>
        <p:nvSpPr>
          <p:cNvPr id="14" name="Number 3"/>
          <p:cNvSpPr txBox="1"/>
          <p:nvPr/>
        </p:nvSpPr>
        <p:spPr>
          <a:xfrm>
            <a:off x="8158277" y="2148840"/>
            <a:ext cx="914400" cy="9144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03</a:t>
            </a:r>
            <a:endParaRPr lang="en-US" sz="2400" dirty="0"/>
          </a:p>
        </p:txBody>
      </p:sp>
      <p:sp>
        <p:nvSpPr>
          <p:cNvPr id="15" name="Step 3 panel"/>
          <p:cNvSpPr/>
          <p:nvPr/>
        </p:nvSpPr>
        <p:spPr>
          <a:xfrm>
            <a:off x="8158277" y="3429000"/>
            <a:ext cx="3484778" cy="2377440"/>
          </a:xfrm>
          <a:prstGeom prst="roundRect">
            <a:avLst>
              <a:gd name="adj" fmla="val 4615"/>
            </a:avLst>
          </a:prstGeom>
          <a:solidFill>
            <a:schemeClr val="bg2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8478317" y="3429000"/>
            <a:ext cx="284469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Assess clinically meaningful subgroup differences without data dredging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Selection bias</a:t>
            </a:r>
            <a:endParaRPr lang="en-US" sz="3200" dirty="0"/>
          </a:p>
        </p:txBody>
      </p:sp>
      <p:sp>
        <p:nvSpPr>
          <p:cNvPr id="5" name="Check row 1"/>
          <p:cNvSpPr/>
          <p:nvPr/>
        </p:nvSpPr>
        <p:spPr>
          <a:xfrm>
            <a:off x="548640" y="1828800"/>
            <a:ext cx="11094415" cy="1143000"/>
          </a:xfrm>
          <a:prstGeom prst="roundRect">
            <a:avLst>
              <a:gd name="adj" fmla="val 9600"/>
            </a:avLst>
          </a:prstGeom>
          <a:solidFill>
            <a:schemeClr val="bg2"/>
          </a:solidFill>
          <a:ln/>
        </p:spPr>
      </p:sp>
      <p:sp>
        <p:nvSpPr>
          <p:cNvPr id="6" name="Icon circle"/>
          <p:cNvSpPr/>
          <p:nvPr/>
        </p:nvSpPr>
        <p:spPr>
          <a:xfrm>
            <a:off x="868680" y="2116836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7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0412" y="2258568"/>
            <a:ext cx="283464" cy="283464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737360" y="1828800"/>
            <a:ext cx="953993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Examine referral patterns, survival and control participation</a:t>
            </a:r>
            <a:endParaRPr lang="en-US" sz="2200" dirty="0"/>
          </a:p>
        </p:txBody>
      </p:sp>
      <p:sp>
        <p:nvSpPr>
          <p:cNvPr id="9" name="Check row 2"/>
          <p:cNvSpPr/>
          <p:nvPr/>
        </p:nvSpPr>
        <p:spPr>
          <a:xfrm>
            <a:off x="548640" y="3246120"/>
            <a:ext cx="11094415" cy="1143000"/>
          </a:xfrm>
          <a:prstGeom prst="roundRect">
            <a:avLst>
              <a:gd name="adj" fmla="val 9600"/>
            </a:avLst>
          </a:prstGeom>
          <a:solidFill>
            <a:schemeClr val="bg2"/>
          </a:solidFill>
          <a:ln/>
        </p:spPr>
      </p:sp>
      <p:sp>
        <p:nvSpPr>
          <p:cNvPr id="10" name="Icon circle"/>
          <p:cNvSpPr/>
          <p:nvPr/>
        </p:nvSpPr>
        <p:spPr>
          <a:xfrm>
            <a:off x="868680" y="3534156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1" name="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0412" y="3675888"/>
            <a:ext cx="283464" cy="283464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1737360" y="3246120"/>
            <a:ext cx="953993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Hospital controls may have exposure-related conditions</a:t>
            </a:r>
            <a:endParaRPr lang="en-US" sz="2200" dirty="0"/>
          </a:p>
        </p:txBody>
      </p:sp>
      <p:sp>
        <p:nvSpPr>
          <p:cNvPr id="13" name="Check row 3"/>
          <p:cNvSpPr/>
          <p:nvPr/>
        </p:nvSpPr>
        <p:spPr>
          <a:xfrm>
            <a:off x="548640" y="4663440"/>
            <a:ext cx="11094415" cy="1143000"/>
          </a:xfrm>
          <a:prstGeom prst="roundRect">
            <a:avLst>
              <a:gd name="adj" fmla="val 9600"/>
            </a:avLst>
          </a:prstGeom>
          <a:solidFill>
            <a:schemeClr val="bg2"/>
          </a:solidFill>
          <a:ln/>
        </p:spPr>
      </p:sp>
      <p:sp>
        <p:nvSpPr>
          <p:cNvPr id="14" name="Icon circle"/>
          <p:cNvSpPr/>
          <p:nvPr/>
        </p:nvSpPr>
        <p:spPr>
          <a:xfrm>
            <a:off x="868680" y="4951476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5" name="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0412" y="5093208"/>
            <a:ext cx="283464" cy="283464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1737360" y="4663440"/>
            <a:ext cx="953993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Explain how selection can distort the exposure contrast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Recall and information bias</a:t>
            </a:r>
            <a:endParaRPr lang="en-US" sz="3200" dirty="0"/>
          </a:p>
        </p:txBody>
      </p:sp>
      <p:sp>
        <p:nvSpPr>
          <p:cNvPr id="5" name="Card 1"/>
          <p:cNvSpPr/>
          <p:nvPr/>
        </p:nvSpPr>
        <p:spPr>
          <a:xfrm>
            <a:off x="548640" y="2057400"/>
            <a:ext cx="3484778" cy="3383280"/>
          </a:xfrm>
          <a:prstGeom prst="roundRect">
            <a:avLst>
              <a:gd name="adj" fmla="val 3243"/>
            </a:avLst>
          </a:prstGeom>
          <a:solidFill>
            <a:schemeClr val="bg2"/>
          </a:solidFill>
          <a:ln/>
        </p:spPr>
      </p:sp>
      <p:sp>
        <p:nvSpPr>
          <p:cNvPr id="6" name="Number 1"/>
          <p:cNvSpPr txBox="1"/>
          <p:nvPr/>
        </p:nvSpPr>
        <p:spPr>
          <a:xfrm>
            <a:off x="914400" y="242316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01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914400" y="3383280"/>
            <a:ext cx="275325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Cases may remember past exposures differently from controls</a:t>
            </a:r>
            <a:endParaRPr lang="en-US" sz="2200" dirty="0"/>
          </a:p>
        </p:txBody>
      </p:sp>
      <p:sp>
        <p:nvSpPr>
          <p:cNvPr id="8" name="Card 2"/>
          <p:cNvSpPr/>
          <p:nvPr/>
        </p:nvSpPr>
        <p:spPr>
          <a:xfrm>
            <a:off x="4353458" y="2057400"/>
            <a:ext cx="3484778" cy="3383280"/>
          </a:xfrm>
          <a:prstGeom prst="roundRect">
            <a:avLst>
              <a:gd name="adj" fmla="val 3243"/>
            </a:avLst>
          </a:prstGeom>
          <a:solidFill>
            <a:schemeClr val="bg2"/>
          </a:solidFill>
          <a:ln/>
        </p:spPr>
      </p:sp>
      <p:sp>
        <p:nvSpPr>
          <p:cNvPr id="9" name="Number 2"/>
          <p:cNvSpPr txBox="1"/>
          <p:nvPr/>
        </p:nvSpPr>
        <p:spPr>
          <a:xfrm>
            <a:off x="4719218" y="242316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02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4719218" y="3383280"/>
            <a:ext cx="275325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Records may be incomplete or measured differently</a:t>
            </a:r>
            <a:endParaRPr lang="en-US" sz="2200" dirty="0"/>
          </a:p>
        </p:txBody>
      </p:sp>
      <p:sp>
        <p:nvSpPr>
          <p:cNvPr id="11" name="Card 3"/>
          <p:cNvSpPr/>
          <p:nvPr/>
        </p:nvSpPr>
        <p:spPr>
          <a:xfrm>
            <a:off x="8158277" y="2057400"/>
            <a:ext cx="3484778" cy="3383280"/>
          </a:xfrm>
          <a:prstGeom prst="roundRect">
            <a:avLst>
              <a:gd name="adj" fmla="val 3243"/>
            </a:avLst>
          </a:prstGeom>
          <a:solidFill>
            <a:schemeClr val="bg2"/>
          </a:solidFill>
          <a:ln/>
        </p:spPr>
      </p:sp>
      <p:sp>
        <p:nvSpPr>
          <p:cNvPr id="12" name="Number 3"/>
          <p:cNvSpPr txBox="1"/>
          <p:nvPr/>
        </p:nvSpPr>
        <p:spPr>
          <a:xfrm>
            <a:off x="8524037" y="242316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03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8524037" y="3383280"/>
            <a:ext cx="275325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Prefer comparable objective information when feasible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Worked example</a:t>
            </a:r>
            <a:endParaRPr lang="en-US" sz="3200" dirty="0"/>
          </a:p>
        </p:txBody>
      </p:sp>
      <p:sp>
        <p:nvSpPr>
          <p:cNvPr id="5" name="Feature panel"/>
          <p:cNvSpPr/>
          <p:nvPr/>
        </p:nvSpPr>
        <p:spPr>
          <a:xfrm>
            <a:off x="548640" y="1737360"/>
            <a:ext cx="4572000" cy="4251960"/>
          </a:xfrm>
          <a:prstGeom prst="roundRect">
            <a:avLst>
              <a:gd name="adj" fmla="val 3226"/>
            </a:avLst>
          </a:prstGeom>
          <a:solidFill>
            <a:schemeClr val="accent1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pic>
        <p:nvPicPr>
          <p:cNvPr id="6" name="Quote mark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2103120"/>
            <a:ext cx="502920" cy="50292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645920" y="214884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3"/>
                </a:solidFill>
              </a:rPr>
              <a:t>HYPOTHETICAL EXAMPLE</a:t>
            </a:r>
            <a:endParaRPr lang="en-US" sz="1200" dirty="0"/>
          </a:p>
        </p:txBody>
      </p:sp>
      <p:sp>
        <p:nvSpPr>
          <p:cNvPr id="8" name="Text 4"/>
          <p:cNvSpPr txBox="1"/>
          <p:nvPr/>
        </p:nvSpPr>
        <p:spPr>
          <a:xfrm>
            <a:off x="960120" y="2880360"/>
            <a:ext cx="37490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i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Counts are a=40, b=20, c=60 and d=80</a:t>
            </a:r>
            <a:endParaRPr lang="en-US" sz="2800" dirty="0"/>
          </a:p>
        </p:txBody>
      </p:sp>
      <p:sp>
        <p:nvSpPr>
          <p:cNvPr id="9" name="Number 2"/>
          <p:cNvSpPr txBox="1"/>
          <p:nvPr/>
        </p:nvSpPr>
        <p:spPr>
          <a:xfrm>
            <a:off x="5623560" y="192024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02</a:t>
            </a:r>
            <a:endParaRPr lang="en-US" sz="1600" dirty="0"/>
          </a:p>
        </p:txBody>
      </p:sp>
      <p:sp>
        <p:nvSpPr>
          <p:cNvPr id="10" name="Text 6"/>
          <p:cNvSpPr txBox="1"/>
          <p:nvPr/>
        </p:nvSpPr>
        <p:spPr>
          <a:xfrm>
            <a:off x="6492240" y="1965960"/>
            <a:ext cx="5150815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OR equals 2.67 after rounding</a:t>
            </a:r>
            <a:endParaRPr lang="en-US" sz="2200" dirty="0"/>
          </a:p>
        </p:txBody>
      </p:sp>
      <p:sp>
        <p:nvSpPr>
          <p:cNvPr id="11" name="Number 3"/>
          <p:cNvSpPr txBox="1"/>
          <p:nvPr/>
        </p:nvSpPr>
        <p:spPr>
          <a:xfrm>
            <a:off x="5623560" y="397764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03</a:t>
            </a:r>
            <a:endParaRPr lang="en-US" sz="1600" dirty="0"/>
          </a:p>
        </p:txBody>
      </p:sp>
      <p:sp>
        <p:nvSpPr>
          <p:cNvPr id="12" name="Text 8"/>
          <p:cNvSpPr txBox="1"/>
          <p:nvPr/>
        </p:nvSpPr>
        <p:spPr>
          <a:xfrm>
            <a:off x="6492240" y="4023360"/>
            <a:ext cx="5150815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Interpret the result under the stated sampling scheme and avoid claiming a causal effect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Sensitivity analyses and ethics</a:t>
            </a:r>
            <a:endParaRPr lang="en-US" sz="3200" dirty="0"/>
          </a:p>
        </p:txBody>
      </p:sp>
      <p:sp>
        <p:nvSpPr>
          <p:cNvPr id="5" name="Number 1"/>
          <p:cNvSpPr txBox="1"/>
          <p:nvPr/>
        </p:nvSpPr>
        <p:spPr>
          <a:xfrm>
            <a:off x="548640" y="182880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01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1417320" y="1828800"/>
            <a:ext cx="6400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Examine exposure definitions, control sources and missingness</a:t>
            </a:r>
            <a:endParaRPr lang="en-US" sz="2200" dirty="0"/>
          </a:p>
        </p:txBody>
      </p:sp>
      <p:sp>
        <p:nvSpPr>
          <p:cNvPr id="7" name="Number 2"/>
          <p:cNvSpPr txBox="1"/>
          <p:nvPr/>
        </p:nvSpPr>
        <p:spPr>
          <a:xfrm>
            <a:off x="548640" y="324612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02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1417320" y="3246120"/>
            <a:ext cx="6400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Consider reverse-causation and residual-confounding scenarios</a:t>
            </a:r>
            <a:endParaRPr lang="en-US" sz="2200" dirty="0"/>
          </a:p>
        </p:txBody>
      </p:sp>
      <p:sp>
        <p:nvSpPr>
          <p:cNvPr id="9" name="Number 3"/>
          <p:cNvSpPr txBox="1"/>
          <p:nvPr/>
        </p:nvSpPr>
        <p:spPr>
          <a:xfrm>
            <a:off x="548640" y="466344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03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1417320" y="4663440"/>
            <a:ext cx="6400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Protect sensitive health records and follow required review procedures</a:t>
            </a:r>
            <a:endParaRPr lang="en-US" sz="2200" dirty="0"/>
          </a:p>
        </p:txBody>
      </p:sp>
      <p:sp>
        <p:nvSpPr>
          <p:cNvPr id="11" name="Visual panel"/>
          <p:cNvSpPr/>
          <p:nvPr/>
        </p:nvSpPr>
        <p:spPr>
          <a:xfrm>
            <a:off x="8275320" y="1783080"/>
            <a:ext cx="3367735" cy="4206240"/>
          </a:xfrm>
          <a:prstGeom prst="roundRect">
            <a:avLst>
              <a:gd name="adj" fmla="val 4073"/>
            </a:avLst>
          </a:prstGeom>
          <a:solidFill>
            <a:schemeClr val="bg2"/>
          </a:solidFill>
          <a:ln/>
        </p:spPr>
      </p:sp>
      <p:sp>
        <p:nvSpPr>
          <p:cNvPr id="12" name="Icon circle"/>
          <p:cNvSpPr/>
          <p:nvPr/>
        </p:nvSpPr>
        <p:spPr>
          <a:xfrm>
            <a:off x="8999068" y="2926080"/>
            <a:ext cx="1920240" cy="19202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3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79128" y="3406140"/>
            <a:ext cx="960120" cy="96012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Reporting, strengths and takeaways</a:t>
            </a:r>
            <a:endParaRPr lang="en-US" sz="3200" dirty="0"/>
          </a:p>
        </p:txBody>
      </p:sp>
      <p:sp>
        <p:nvSpPr>
          <p:cNvPr id="5" name="Number 1"/>
          <p:cNvSpPr txBox="1"/>
          <p:nvPr/>
        </p:nvSpPr>
        <p:spPr>
          <a:xfrm>
            <a:off x="548640" y="1920240"/>
            <a:ext cx="594360" cy="594360"/>
          </a:xfrm>
          <a:prstGeom prst="ellipse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01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1463040" y="1920240"/>
            <a:ext cx="1018001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bg1"/>
                </a:solidFill>
              </a:rPr>
              <a:t>Use the case-control STROBE checklist</a:t>
            </a:r>
            <a:endParaRPr lang="en-US" sz="2200" dirty="0"/>
          </a:p>
        </p:txBody>
      </p:sp>
      <p:sp>
        <p:nvSpPr>
          <p:cNvPr id="7" name="Number 2"/>
          <p:cNvSpPr txBox="1"/>
          <p:nvPr/>
        </p:nvSpPr>
        <p:spPr>
          <a:xfrm>
            <a:off x="548640" y="3108960"/>
            <a:ext cx="594360" cy="594360"/>
          </a:xfrm>
          <a:prstGeom prst="ellipse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02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1463040" y="3108960"/>
            <a:ext cx="1018001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bg1"/>
                </a:solidFill>
              </a:rPr>
              <a:t>Explain case selection, control sampling, matching and exposure timing</a:t>
            </a:r>
            <a:endParaRPr lang="en-US" sz="2200" dirty="0"/>
          </a:p>
        </p:txBody>
      </p:sp>
      <p:sp>
        <p:nvSpPr>
          <p:cNvPr id="9" name="Discussion prompt"/>
          <p:cNvSpPr/>
          <p:nvPr/>
        </p:nvSpPr>
        <p:spPr>
          <a:xfrm>
            <a:off x="548640" y="4343400"/>
            <a:ext cx="11094415" cy="1645920"/>
          </a:xfrm>
          <a:prstGeom prst="roundRect">
            <a:avLst>
              <a:gd name="adj" fmla="val 8333"/>
            </a:avLst>
          </a:prstGeom>
          <a:solidFill>
            <a:schemeClr val="accent2"/>
          </a:solidFill>
          <a:ln/>
        </p:spPr>
      </p:sp>
      <p:sp>
        <p:nvSpPr>
          <p:cNvPr id="10" name="Icon circle"/>
          <p:cNvSpPr/>
          <p:nvPr/>
        </p:nvSpPr>
        <p:spPr>
          <a:xfrm>
            <a:off x="868680" y="4777740"/>
            <a:ext cx="777240" cy="777240"/>
          </a:xfrm>
          <a:prstGeom prst="ellipse">
            <a:avLst/>
          </a:prstGeom>
          <a:solidFill>
            <a:schemeClr val="bg1"/>
          </a:solidFill>
          <a:ln/>
        </p:spPr>
      </p:sp>
      <p:pic>
        <p:nvPicPr>
          <p:cNvPr id="11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2990" y="4972050"/>
            <a:ext cx="388620" cy="38862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965960" y="4343400"/>
            <a:ext cx="9311335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Bef>
                <a:spcPts val="400"/>
              </a:spcBef>
              <a:buNone/>
            </a:pPr>
            <a:r>
              <a:rPr lang="en-US" sz="1200" b="1" spc="300" kern="0" dirty="0">
                <a:solidFill>
                  <a:schemeClr val="accent3"/>
                </a:solidFill>
              </a:rPr>
              <a:t>DISCUSSION PROMPT</a:t>
            </a:r>
            <a:endParaRPr lang="en-US" sz="12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2200" i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Discuss why a valid source population matters more than simply increasing control count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References and further reading</a:t>
            </a:r>
            <a:endParaRPr lang="en-US" sz="3200" dirty="0"/>
          </a:p>
        </p:txBody>
      </p:sp>
      <p:sp>
        <p:nvSpPr>
          <p:cNvPr id="5" name="Reference 1"/>
          <p:cNvSpPr/>
          <p:nvPr/>
        </p:nvSpPr>
        <p:spPr>
          <a:xfrm>
            <a:off x="548640" y="1828800"/>
            <a:ext cx="11094415" cy="1554480"/>
          </a:xfrm>
          <a:prstGeom prst="roundRect">
            <a:avLst>
              <a:gd name="adj" fmla="val 7059"/>
            </a:avLst>
          </a:prstGeom>
          <a:solidFill>
            <a:schemeClr val="bg2"/>
          </a:solidFill>
          <a:ln/>
        </p:spPr>
      </p:sp>
      <p:sp>
        <p:nvSpPr>
          <p:cNvPr id="6" name="Icon circle"/>
          <p:cNvSpPr/>
          <p:nvPr/>
        </p:nvSpPr>
        <p:spPr>
          <a:xfrm>
            <a:off x="868680" y="228600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7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8700" y="2446020"/>
            <a:ext cx="320040" cy="32004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783080" y="1828800"/>
            <a:ext cx="9494215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STROBE Statement: reporting observational research.</a:t>
            </a:r>
            <a:endParaRPr lang="en-US" sz="20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u="sng" dirty="0">
                <a:solidFill>
                  <a:schemeClr val="accent1"/>
                </a:solidFill>
                <a:hlinkClick r:id="rId3" invalidUrl="" action="" tgtFrame="" tooltip="https://www.strobe-statement.org/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https://www.strobe-statement.org/</a:t>
            </a:r>
            <a:endParaRPr lang="en-US" sz="2000" dirty="0"/>
          </a:p>
        </p:txBody>
      </p:sp>
      <p:sp>
        <p:nvSpPr>
          <p:cNvPr id="9" name="Reference 2"/>
          <p:cNvSpPr/>
          <p:nvPr/>
        </p:nvSpPr>
        <p:spPr>
          <a:xfrm>
            <a:off x="548640" y="3703320"/>
            <a:ext cx="11094415" cy="1554480"/>
          </a:xfrm>
          <a:prstGeom prst="roundRect">
            <a:avLst>
              <a:gd name="adj" fmla="val 7059"/>
            </a:avLst>
          </a:prstGeom>
          <a:solidFill>
            <a:schemeClr val="bg2"/>
          </a:solidFill>
          <a:ln/>
        </p:spPr>
      </p:sp>
      <p:sp>
        <p:nvSpPr>
          <p:cNvPr id="10" name="Icon circle"/>
          <p:cNvSpPr/>
          <p:nvPr/>
        </p:nvSpPr>
        <p:spPr>
          <a:xfrm>
            <a:off x="868680" y="416052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1" name="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8700" y="4320540"/>
            <a:ext cx="320040" cy="320040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1783080" y="3703320"/>
            <a:ext cx="9494215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CDC Field Epidemiology Manual: Designing and Conducting Analytic Studies in the Field.</a:t>
            </a:r>
            <a:endParaRPr lang="en-US" sz="20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u="sng" dirty="0">
                <a:solidFill>
                  <a:schemeClr val="accent1"/>
                </a:solidFill>
                <a:hlinkClick r:id="rId5" invalidUrl="" action="" tgtFrame="" tooltip="https://www.cdc.gov/field-epi-manual/php/chapters/design-conduct-analyze-field-studies.html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https://www.cdc.gov/field-epi-manual/php/chapters/design-conduct-analyze-field-studies.html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Quantitative Research Methods – Case-control study">
  <a:themeElements>
    <a:clrScheme name="Quantitative Research Methods – Case-control study">
      <a:dk1>
        <a:srgbClr val="1F2328"/>
      </a:dk1>
      <a:lt1>
        <a:srgbClr val="FFFFFF"/>
      </a:lt1>
      <a:dk2>
        <a:srgbClr val="59606B"/>
      </a:dk2>
      <a:lt2>
        <a:srgbClr val="F0ECF2"/>
      </a:lt2>
      <a:accent1>
        <a:srgbClr val="6A3D7C"/>
      </a:accent1>
      <a:accent2>
        <a:srgbClr val="4C2C59"/>
      </a:accent2>
      <a:accent3>
        <a:srgbClr val="D5C9DA"/>
      </a:accent3>
      <a:accent4>
        <a:srgbClr val="E1D8E5"/>
      </a:accent4>
      <a:accent5>
        <a:srgbClr val="8A929E"/>
      </a:accent5>
      <a:accent6>
        <a:srgbClr val="D9DDE3"/>
      </a:accent6>
      <a:hlink>
        <a:srgbClr val="6A3D7C"/>
      </a:hlink>
      <a:folHlink>
        <a:srgbClr val="4C2C59"/>
      </a:folHlink>
    </a:clrScheme>
    <a:fontScheme name="Quantitative Research Methods – Case-control study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Case-control study</dc:title>
  <dc:subject>Quantitative Research Methods</dc:subject>
  <dc:creator>PptxGenJS</dc:creator>
  <cp:lastModifiedBy>PptxGenJS</cp:lastModifiedBy>
  <cp:revision>1</cp:revision>
  <dcterms:created xsi:type="dcterms:W3CDTF">2026-10-10T16:27:35Z</dcterms:created>
  <dcterms:modified xsi:type="dcterms:W3CDTF">2026-10-10T16:27:35Z</dcterms:modified>
</cp:coreProperties>
</file>