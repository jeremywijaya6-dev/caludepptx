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6e92f77-05ee-5b38-11b4-81a9df033113}">
          <p14:sldIdLst>
            <p14:sldId id="256"/>
            <p14:sldId id="257"/>
          </p14:sldIdLst>
        </p14:section>
        <p14:section name="Core content" id="{3dee611b-b48f-90cb-32b3-69323471ff98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Wrap-up" id="{295c2e5f-a600-6323-9252-f9d627a25cee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 prevalence or associations in a population at a defined time
Core concepts, study planning, analysis and interpretation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purpose and structure of the design
Plan sampling, measurement and appropriate analysis
Assess bias, interpretation, ethics and reporting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 variables within a defined time window
Estimate prevalence or examine concurrent associations
Recognize that exposure-outcome timing may be unclear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Descriptive studies estimate characteristics or burden
Analytical studies compare exposures and outcomes
State the primary aim before choosing sampling and analysis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for burden, service needs or concurrent risk-factor patterns
Plan a coherent observation window
Choose longitudinal designs when change or incidence is central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Specify the population, exposure, outcome and time window
Distinguish a prevalence objective from an association objective
Avoid assuming the exposure preceded the outcome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example: prevalence of unrecognized glaucoma in a defined adult population
Alternatively examine its association with healthcare access
Keep the estimation and association questions distinct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whom results are intended to describe
Identify the accessible sampling frame
Explain exclusions and coverage gaps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probability, stratified, cluster and convenience sampling
Align selection with the inference goal
Describe how sampling affects representativeness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criteria before selection
Record invitations, eligibility and participation
Prevent recruitment procedures from favoring particular outcomes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expected prevalence, desired precision and confidence level
Account for design effects and nonresponse where relevant
State the assumptions rather than using a universal sample rule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planning on the primary comparison or model
Consider outcome frequency, exposure distribution and confounders
Distinguish available sample size from adequate information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validated criteria and consistent measurement windows
Separate current status from recalled past exposure
Specify handling of ambiguous classifications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Standardize questionnaires, examinations or record extraction
Train assessors and calibrate measurements
Use identical procedures across participant groups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 existing cases by the eligible population assessed
Report the observation window and denominator
Recognize that prevalence reflects disease duration as well as occurrence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demographic and clinical characteristics
Use suitable continuous-data summaries and confidence intervals
Describe subgroup denominators transparently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prevalence ratios, prevalence differences and prevalence odds ratios
Choose an estimand before the model
Do not automatically interpret an odds ratio as a prevalence ratio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models appropriate to the outcome and selected estimand
Consider modified Poisson or log-binomial models for prevalence ratios
Explain logistic regression estimates prevalence odds ratios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weights, strata and cluster information when required
Account for the sample design in uncertainty estimates
Distinguish weighted population estimates from raw sample summaries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Choose adjustments using substantive causal knowledge
Examine meaningful differences across subgroups
Avoid indiscriminate adjustment for mediators or colliders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Assess coverage gaps and participation patterns
Describe who may be missing from the sample
Weighting cannot fully correct all unobserved differences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Concurrent measurement often cannot establish event order
Disease may alter the measured exposure
Make causal limits explicit even with adjusted regression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sample has 40 cases among 1,000 participants: prevalence is 4%
Report unavailable examinations separately rather than classifying them as disease-free
Examine sensitivity to nonresponse and missingness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cross-sectional STROBE checklist for reporting
Report prevalence or associations with uncertainty and design limits
Discuss whether longitudinal work is needed to test a temporal hypothesis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STROBE Statement: reporting observational research. https://www.strobe-statement.org/
CDC Field Epidemiology Manual: Designing and Conducting Analytic Studies in the Field. https://www.cdc.gov/field-epi-manual/php/chapters/design-conduct-analyze-field-studies.html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Quantitative Research Methods  ·  Topic 04  ·  Cross-sectional study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Quantitative Research Methods  ·  Topic 04  ·  Cross-sectional study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robe-statement.org/" TargetMode="External"/><Relationship Id="rId5" Type="http://schemas.openxmlformats.org/officeDocument/2006/relationships/hyperlink" Target="https://www.cdc.gov/field-epi-manual/php/chapters/design-conduct-analyze-field-studies.html" TargetMode="External"/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4" Type="http://schemas.openxmlformats.org/officeDocument/2006/relationships/image" Target="../media/image-25-3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QUANTITATIVE RESEARCH METHODS  ·  TOPIC 04 OF 11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Cross-sectional study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Measure prevalence or associations in a population at a defined time</a:t>
            </a: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Core concepts, study planning, analysis and interpretation</a:t>
            </a:r>
            <a:endParaRPr lang="en-US" sz="1600" dirty="0"/>
          </a:p>
        </p:txBody>
      </p:sp>
      <p:sp>
        <p:nvSpPr>
          <p:cNvPr id="6" name="Halo"/>
          <p:cNvSpPr/>
          <p:nvPr/>
        </p:nvSpPr>
        <p:spPr>
          <a:xfrm>
            <a:off x="7680960" y="1417320"/>
            <a:ext cx="4023360" cy="4023360"/>
          </a:xfrm>
          <a:prstGeom prst="ellipse">
            <a:avLst/>
          </a:prstGeom>
          <a:solidFill>
            <a:schemeClr val="accent2">
              <a:alpha val="45000"/>
            </a:schemeClr>
          </a:solidFill>
          <a:ln/>
        </p:spPr>
      </p:sp>
      <p:sp>
        <p:nvSpPr>
          <p:cNvPr id="7" name="Icon circle"/>
          <p:cNvSpPr/>
          <p:nvPr/>
        </p:nvSpPr>
        <p:spPr>
          <a:xfrm>
            <a:off x="8001000" y="1737360"/>
            <a:ext cx="3383280" cy="3383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6820" y="2583180"/>
            <a:ext cx="16916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Learning objectives</a:t>
            </a:r>
            <a:endParaRPr lang="en-US" sz="3200" dirty="0"/>
          </a:p>
        </p:txBody>
      </p:sp>
      <p:sp>
        <p:nvSpPr>
          <p:cNvPr id="5" name="Objective 1"/>
          <p:cNvSpPr/>
          <p:nvPr/>
        </p:nvSpPr>
        <p:spPr>
          <a:xfrm>
            <a:off x="548640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14400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Explain the purpose and structure of the design</a:t>
            </a:r>
            <a:endParaRPr lang="en-US" sz="2000" dirty="0"/>
          </a:p>
        </p:txBody>
      </p:sp>
      <p:sp>
        <p:nvSpPr>
          <p:cNvPr id="10" name="Objective 2"/>
          <p:cNvSpPr/>
          <p:nvPr/>
        </p:nvSpPr>
        <p:spPr>
          <a:xfrm>
            <a:off x="4353458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4719218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388" y="2320290"/>
            <a:ext cx="434340" cy="4343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19218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02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719218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Plan sampling, measurement and appropriate analysis</a:t>
            </a:r>
            <a:endParaRPr lang="en-US" sz="2000" dirty="0"/>
          </a:p>
        </p:txBody>
      </p:sp>
      <p:sp>
        <p:nvSpPr>
          <p:cNvPr id="15" name="Objective 3"/>
          <p:cNvSpPr/>
          <p:nvPr/>
        </p:nvSpPr>
        <p:spPr>
          <a:xfrm>
            <a:off x="8158277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 circle"/>
          <p:cNvSpPr/>
          <p:nvPr/>
        </p:nvSpPr>
        <p:spPr>
          <a:xfrm>
            <a:off x="8524037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07" y="2320290"/>
            <a:ext cx="434340" cy="4343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524037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03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8524037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Assess bias, interpretation, ethics and reporting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Definition and purpose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variables within a defined time window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Estimate prevalence or examine concurrent associations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Recognize that exposure-outcome timing may be unclear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Descriptive and analytical questions</a:t>
            </a:r>
            <a:endParaRPr lang="en-US" sz="3200" dirty="0"/>
          </a:p>
        </p:txBody>
      </p:sp>
      <p:graphicFrame>
        <p:nvGraphicFramePr>
          <p:cNvPr id="5" name="Descriptive and analytical quest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Descriptive studies estimate characteristics or burden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Analytical studies compare exposures and outcomes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State the primary aim before choosing sampling and analysis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When the design fits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for burden, service needs or concurrent risk-factor patterns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Plan a coherent observation window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Choose longitudinal designs when change or incidence is central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Formulating the research question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Specify the population, exposure, outcome and time window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Distinguish a prevalence objective from an association objective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Avoid assuming the exposure preceded the outcome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Illustrative research problem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Hypothetical example: prevalence of unrecognized glaucoma in a defined adult population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Alternatively examine its association with healthcare access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Keep the estimation and association questions distinct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Target and source populations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Define whom results are intended to describe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Identify the accessible sampling frame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exclusions and coverage gaps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Sampling strategies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probability, stratified, cluster and convenience sampling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Align selection with the inference goal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Describe how sampling affects representativeness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Eligibility and recruitment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Set criteria before selection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Record invitations, eligibility and participation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Prevent recruitment procedures from favoring particular outcomes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Sample size for prevalence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Use expected prevalence, desired precision and confidence level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Account for design effects and nonresponse where relevant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State the assumptions rather than using a universal sample rule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Sample size for associations</a:t>
            </a:r>
            <a:endParaRPr lang="en-US" sz="3200" dirty="0"/>
          </a:p>
        </p:txBody>
      </p:sp>
      <p:graphicFrame>
        <p:nvGraphicFramePr>
          <p:cNvPr id="13" name="Sample size for associat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Base planning on the primary comparison or model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Consider outcome frequency, exposure distribution and confounders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Distinguish available sample size from adequate information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Defining exposure and outcome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 validated criteria and consistent measurement windows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Separate current status from recalled past exposure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Specify handling of ambiguous classifications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Data collection and quality control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Standardize questionnaires, examinations or record extraction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Train assessors and calibrate measurements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Use identical procedures across participant groups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Prevalence calculation</a:t>
            </a:r>
            <a:endParaRPr lang="en-US" sz="3200" dirty="0"/>
          </a:p>
        </p:txBody>
      </p:sp>
      <p:sp>
        <p:nvSpPr>
          <p:cNvPr id="5" name="Formula panel"/>
          <p:cNvSpPr/>
          <p:nvPr/>
        </p:nvSpPr>
        <p:spPr>
          <a:xfrm>
            <a:off x="548640" y="1737360"/>
            <a:ext cx="512064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960120" y="2103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FORMULA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26060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Prevalence =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8862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Existing cases</a:t>
            </a:r>
            <a:endParaRPr lang="en-US" sz="2400" dirty="0"/>
          </a:p>
        </p:txBody>
      </p:sp>
      <p:sp>
        <p:nvSpPr>
          <p:cNvPr id="9" name="Fraction bar"/>
          <p:cNvSpPr/>
          <p:nvPr/>
        </p:nvSpPr>
        <p:spPr>
          <a:xfrm>
            <a:off x="960120" y="4709160"/>
            <a:ext cx="4297680" cy="0"/>
          </a:xfrm>
          <a:prstGeom prst="line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60120" y="48463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Eligible population assessed</a:t>
            </a:r>
            <a:endParaRPr lang="en-US" sz="2400" dirty="0"/>
          </a:p>
        </p:txBody>
      </p:sp>
      <p:sp>
        <p:nvSpPr>
          <p:cNvPr id="11" name="Number 1"/>
          <p:cNvSpPr txBox="1"/>
          <p:nvPr/>
        </p:nvSpPr>
        <p:spPr>
          <a:xfrm>
            <a:off x="617220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040880" y="1874520"/>
            <a:ext cx="46021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Divide existing cases by the eligible population assessed</a:t>
            </a:r>
            <a:endParaRPr lang="en-US" sz="2200" dirty="0"/>
          </a:p>
        </p:txBody>
      </p:sp>
      <p:sp>
        <p:nvSpPr>
          <p:cNvPr id="13" name="Number 2"/>
          <p:cNvSpPr txBox="1"/>
          <p:nvPr/>
        </p:nvSpPr>
        <p:spPr>
          <a:xfrm>
            <a:off x="617220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040880" y="3291840"/>
            <a:ext cx="46021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Report the observation window and denominator</a:t>
            </a:r>
            <a:endParaRPr lang="en-US" sz="2200" dirty="0"/>
          </a:p>
        </p:txBody>
      </p:sp>
      <p:sp>
        <p:nvSpPr>
          <p:cNvPr id="15" name="Number 3"/>
          <p:cNvSpPr txBox="1"/>
          <p:nvPr/>
        </p:nvSpPr>
        <p:spPr>
          <a:xfrm>
            <a:off x="617220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040880" y="4709160"/>
            <a:ext cx="46021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Recognize that prevalence reflects disease duration as well as occurrence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Descriptive statistics</a:t>
            </a:r>
            <a:endParaRPr lang="en-US" sz="3200" dirty="0"/>
          </a:p>
        </p:txBody>
      </p:sp>
      <p:graphicFrame>
        <p:nvGraphicFramePr>
          <p:cNvPr id="17" name="Descriptive statistic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Summarize demographic and clinical characteristics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Use suitable continuous-data summaries and confidence intervals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Describe subgroup denominators transparently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Measures of association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Consider prevalence ratios, prevalence differences and prevalence odds ratios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Choose an estimand before the model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Do not automatically interpret an odds ratio as a prevalence ratio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Regression analysis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Use models appropriate to the outcome and selected estimand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Consider modified Poisson or log-binomial models for prevalence ratios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logistic regression estimates prevalence odds ratios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Complex survey analysis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Use weights, strata and cluster information when required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Account for the sample design in uncertainty estimates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Distinguish weighted population estimates from raw sample summaries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Confounding and effect modification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Choose adjustments using substantive causal knowledge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Examine meaningful differences across subgroups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Avoid indiscriminate adjustment for mediators or colliders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Selection and nonresponse bias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Assess coverage gaps and participation patterns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Describe who may be missing from the sample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Weighting cannot fully correct all unobserved differences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Temporality and reverse causation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Concurrent measurement often cannot establish event order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Disease may alter the measured exposure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Make causal limits explicit even with adjusted regression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Worked example and missing data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HYPOTHETICAL EXAMPLE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has 40 cases among 1,000 participants: prevalence is 4%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Report unavailable examinations separately rather than classifying them as disease-free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Examine sensitivity to nonresponse and missingness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Reporting, strengths and takeaways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92024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92024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Use the cross-sectional STROBE checklist for reporting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310896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Report prevalence or associations with uncertainty and design limits</a:t>
            </a:r>
            <a:endParaRPr lang="en-US" sz="2200" dirty="0"/>
          </a:p>
        </p:txBody>
      </p:sp>
      <p:sp>
        <p:nvSpPr>
          <p:cNvPr id="9" name="Discussion prompt"/>
          <p:cNvSpPr/>
          <p:nvPr/>
        </p:nvSpPr>
        <p:spPr>
          <a:xfrm>
            <a:off x="548640" y="4343400"/>
            <a:ext cx="11094415" cy="164592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777740"/>
            <a:ext cx="777240" cy="7772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497205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65960" y="4343400"/>
            <a:ext cx="93113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DISCUSSION PROMPT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 whether longitudinal work is needed to test a temporal hypothesis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References and further reading</a:t>
            </a:r>
            <a:endParaRPr lang="en-US" sz="3200" dirty="0"/>
          </a:p>
        </p:txBody>
      </p:sp>
      <p:sp>
        <p:nvSpPr>
          <p:cNvPr id="5" name="Reference 1"/>
          <p:cNvSpPr/>
          <p:nvPr/>
        </p:nvSpPr>
        <p:spPr>
          <a:xfrm>
            <a:off x="548640" y="182880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4460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182880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STROBE Statement: reporting observational research.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3" invalidUrl="" action="" tgtFrame="" tooltip="https://www.strobe-statement.org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https://www.strobe-statement.org/</a:t>
            </a:r>
            <a:endParaRPr lang="en-US" sz="2000" dirty="0"/>
          </a:p>
        </p:txBody>
      </p:sp>
      <p:sp>
        <p:nvSpPr>
          <p:cNvPr id="9" name="Reference 2"/>
          <p:cNvSpPr/>
          <p:nvPr/>
        </p:nvSpPr>
        <p:spPr>
          <a:xfrm>
            <a:off x="548640" y="370332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160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432054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83080" y="370332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CDC Field Epidemiology Manual: Designing and Conducting Analytic Studies in the Field.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5" invalidUrl="" action="" tgtFrame="" tooltip="https://www.cdc.gov/field-epi-manual/php/chapters/design-conduct-analyze-field-studies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https://www.cdc.gov/field-epi-manual/php/chapters/design-conduct-analyze-field-studies.html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ntitative Research Methods – Cross-sectional study">
  <a:themeElements>
    <a:clrScheme name="Quantitative Research Methods – Cross-sectional study">
      <a:dk1>
        <a:srgbClr val="1F2328"/>
      </a:dk1>
      <a:lt1>
        <a:srgbClr val="FFFFFF"/>
      </a:lt1>
      <a:dk2>
        <a:srgbClr val="59606B"/>
      </a:dk2>
      <a:lt2>
        <a:srgbClr val="E9EFF2"/>
      </a:lt2>
      <a:accent1>
        <a:srgbClr val="1F5F7A"/>
      </a:accent1>
      <a:accent2>
        <a:srgbClr val="164458"/>
      </a:accent2>
      <a:accent3>
        <a:srgbClr val="C0D2DA"/>
      </a:accent3>
      <a:accent4>
        <a:srgbClr val="D2DFE4"/>
      </a:accent4>
      <a:accent5>
        <a:srgbClr val="8A929E"/>
      </a:accent5>
      <a:accent6>
        <a:srgbClr val="D9DDE3"/>
      </a:accent6>
      <a:hlink>
        <a:srgbClr val="1F5F7A"/>
      </a:hlink>
      <a:folHlink>
        <a:srgbClr val="164458"/>
      </a:folHlink>
    </a:clrScheme>
    <a:fontScheme name="Quantitative Research Methods – Cross-sectional stud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Cross-sectional study</dc:title>
  <dc:subject>Quantitative Research Methods</dc:subject>
  <dc:creator>PptxGenJS</dc:creator>
  <cp:lastModifiedBy>PptxGenJS</cp:lastModifiedBy>
  <cp:revision>1</cp:revision>
  <dcterms:created xsi:type="dcterms:W3CDTF">2026-10-10T16:27:34Z</dcterms:created>
  <dcterms:modified xsi:type="dcterms:W3CDTF">2026-10-10T16:27:34Z</dcterms:modified>
</cp:coreProperties>
</file>