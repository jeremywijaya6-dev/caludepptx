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284b9cd-29ae-567d-d80b-d9ab603d94d6}">
          <p14:sldIdLst>
            <p14:sldId id="256"/>
            <p14:sldId id="257"/>
          </p14:sldIdLst>
        </p14:section>
        <p14:section name="Core content" id="{7a12a068-80c6-cb79-c389-190eea0b34a8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8b7b6d02-19b6-51fe-1697-4cbd6b2db574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328"/>
                </a:solidFill>
                <a:latin typeface="+mn-lt"/>
              </a:rPr>
              <a:t>Hypothetical attendance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Hypothetical attendance (%)</c:v>
                </c:pt>
              </c:strCache>
            </c:strRef>
          </c:tx>
          <c:spPr>
            <a:solidFill>
              <a:srgbClr val="A0522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75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60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9DD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60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outcomes before and after an intervention in one group
Core concepts, study planning, analysis and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structure of the design
Plan sampling, measurement and appropriate analysis
Assess bias, interpretation,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 outcomes in a group before and after a change
Include no concurrent untreated comparison group
Distinguish paired individual follow-up from repeated samples of a population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change following implementation
Use for preliminary local assessment or feasibility
Recognize limited ability to attribute change to the intervention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use when a concurrent comparator is unavailable
Assess whether repeated time-series data could strengthen the design
Explain why randomization or a comparison group was not used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intervention, population, outcome and assessment windows
Define the change being estimated
Use wording that distinguishes temporal change from causal benefit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attendance before and after a clinic reminder system
Compare consistent periods and definitions
Consider other changes in clinic access or workload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whether the same individuals are measured twice
Set eligibility consistently at both periods
Record changes in population composition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content, delivery, start date and intensity
Document adaptations and implementation fidelity
Identify co-interventions occurring at the same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periods that fit the expected response
Keep seasonal and service differences in view
Avoid choosing the best-looking post-intervention period after examining 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reliable measurements before implementation
Record context and initial performance
Consider whether an unusually poor baseline prompted the intervention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same instruments, criteria and denominators across periods
Record changes in coding or data collection
Keep assessment procedures stable where possible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around the primary change estimate and desired precision
Account for within-person correlation in paired designs
Include attrition and available population counts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Estimate mean or median within-person change as appropriate
Consider paired tests or longitudinal models with suitable assumptions
Avoid treating paired observations as independent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group summaries with methods for independent samples
Adjust for relevant composition differences where possible
Explain that adjustment does not create a true counterfactual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paired methods such as McNemar's test for paired binary data when appropriate
Compare independent proportions with suitable methods for independent samples
Keep eligibility denominators consistent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 for multiple measurements per participant or site
Distinguish patients from visits or procedures
Choose uncertainty estimates that respect dependence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External events or background changes may explain the difference
Record contemporaneous policies and service disruptions
Recognize that one pre-post contrast cannot separate these effects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Outcomes may change naturally with time
Extreme baseline values tend to be less extreme on repeat measurement
Consider whether eligibility was triggered by unusually poor performance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Participants may respond differently after repeated testing
Instruments, assessors or definitions may change
Examine these possibilities before interpreting improvement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observed participants with those lost to follow-up
Report unavailable outcomes rather than treating them as unchanged
Assess sensitivity to plausible missing-data mechanisms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attendance rises from 60% to 75%
The absolute observed change is 15 percentage points
This difference alone cannot isolate the reminder system's effect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applicable approvals for intervention delivery and research data
Report eligibility, implementation, windows and missingness
Present estimates with uncertainty and explicit design limitations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and useful for documenting local change
Highly vulnerable to time-related alternative explanations
Discuss adding a comparator or multiple observations before and after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Cochrane Handbook, Chapter 25: Assessing risk of bias in a non-randomized study. https://www.cochrane.org/authors/handbooks-and-manuals/handbook/current/chapter-25
JBI Critical Appraisal Tools. https://jbi.global/critical-appraisal-tools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Quantitative Research Methods  ·  Topic 07  ·  Uncontrolled before-and-after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Quantitative Research Methods  ·  Topic 07  ·  Uncontrolled before-and-after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chrane.org/authors/handbooks-and-manuals/handbook/current/chapter-25" TargetMode="External"/><Relationship Id="rId5" Type="http://schemas.openxmlformats.org/officeDocument/2006/relationships/hyperlink" Target="https://jbi.global/critical-appraisal-tools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QUANTITATIVE RESEARCH METHODS  ·  TOPIC 07 OF 11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Uncontrolled before-and-after study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Compare outcomes before and after an intervention in one group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concepts, study planning, analysis and interpretation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structure of the design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measurement and appropriate analysis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Assess bias, interpretation,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structure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outcomes in a group before and after a change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Include no concurrent untreated comparison group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Distinguish paired individual follow-up from repeated samples of a population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Purpose and design scope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Describe change following implementation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for preliminary local assessment or feasibility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limited ability to attribute change to the intervention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the design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 use when a concurrent comparator is unavailable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whether repeated time-series data could strengthen the design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 why randomization or a comparison group was not used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 intervention, population, outcome and assessment windows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the change being estimated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wording that distinguishes temporal change from causal benefit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attendance before and after a clinic reminder system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consistent periods and definitions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other changes in clinic access or workload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Defining the study population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Clarify whether the same individuals are measured twice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Set eligibility consistently at both periods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Record changes in population composition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Describing the intervention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Specify content, delivery, start date and intensity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Document adaptations and implementation fidelity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Identify co-interventions occurring at the same time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Selecting baseline and follow-up windows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Choose periods that fit the expected response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Keep seasonal and service differences in view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choosing the best-looking post-intervention period after examining results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Baseline measurement</a:t>
            </a:r>
            <a:endParaRPr lang="en-US" sz="3200" dirty="0"/>
          </a:p>
        </p:txBody>
      </p:sp>
      <p:graphicFrame>
        <p:nvGraphicFramePr>
          <p:cNvPr id="12" name="Baseline measure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Use reliable measurements before implementation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Record context and initial performance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Consider whether an unusually poor baseline prompted the intervention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Outcome measurement consistency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the same instruments, criteria and denominators across periods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Record changes in coding or data collection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Keep assessment procedures stable where possible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Sampling and sample size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Plan around the primary change estimate and desired precision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Account for within-person correlation in paired designs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Include attrition and available population counts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Paired continuous outcomes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Estimate mean or median within-person change as appropriate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paired tests or longitudinal models with suitable assumptions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treating paired observations as independent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Independent pre-post samples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group summaries with methods for independent samples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Adjust for relevant composition differences where possible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that adjustment does not create a true counterfactual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Binary outcomes and proportions</a:t>
            </a:r>
            <a:endParaRPr lang="en-US" sz="3200" dirty="0"/>
          </a:p>
        </p:txBody>
      </p:sp>
      <p:graphicFrame>
        <p:nvGraphicFramePr>
          <p:cNvPr id="17" name="Binary outcomes and propor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Use paired methods such as McNemar's test for paired binary data when appropriate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Compare independent proportions with suitable methods for independent samples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Keep eligibility denominators consistent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Repeated observations and clustering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Account for multiple measurements per participant or site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patients from visits or procedures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Choose uncertainty estimates that respect dependence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History and secular trends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External events or background changes may explain the difference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Record contemporaneous policies and service disruptions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that one pre-post contrast cannot separate these effects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Maturation and regression to the mean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Outcomes may change naturally with time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Extreme baseline values tend to be less extreme on repeat measurement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whether eligibility was triggered by unusually poor performance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Testing and instrumentation effects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Participants may respond differently after repeated testing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Instruments, assessors or definitions may change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these possibilities before interpreting improvement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Missing follow-up and attrition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observed participants with those lost to follow-up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Report unavailable outcomes rather than treating them as unchanged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Assess sensitivity to plausible missing-data mechanisms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change example</a:t>
            </a:r>
            <a:endParaRPr lang="en-US" sz="3200" dirty="0"/>
          </a:p>
        </p:txBody>
      </p:sp>
      <p:sp>
        <p:nvSpPr>
          <p:cNvPr id="5" name="Chart panel"/>
          <p:cNvSpPr/>
          <p:nvPr/>
        </p:nvSpPr>
        <p:spPr>
          <a:xfrm>
            <a:off x="548640" y="1737360"/>
            <a:ext cx="5120640" cy="425196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</p:sp>
      <p:graphicFrame>
        <p:nvGraphicFramePr>
          <p:cNvPr id="6" name="Before-after chart" descr=""/>
          <p:cNvGraphicFramePr/>
          <p:nvPr/>
        </p:nvGraphicFramePr>
        <p:xfrm>
          <a:off x="777240" y="1920240"/>
          <a:ext cx="466344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Number 1"/>
          <p:cNvSpPr txBox="1"/>
          <p:nvPr/>
        </p:nvSpPr>
        <p:spPr>
          <a:xfrm>
            <a:off x="617220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040880" y="1874520"/>
            <a:ext cx="4602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attendance rises from 60% to 75%</a:t>
            </a:r>
            <a:endParaRPr lang="en-US" sz="2200" dirty="0"/>
          </a:p>
        </p:txBody>
      </p:sp>
      <p:sp>
        <p:nvSpPr>
          <p:cNvPr id="9" name="Number 2"/>
          <p:cNvSpPr txBox="1"/>
          <p:nvPr/>
        </p:nvSpPr>
        <p:spPr>
          <a:xfrm>
            <a:off x="617220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040880" y="3291840"/>
            <a:ext cx="4602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The absolute observed change is 15 percentage points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617220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040880" y="4709160"/>
            <a:ext cx="4602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This difference alone cannot isolate the reminder system's effect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 and reporting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Follow applicable approvals for intervention delivery and research data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Report eligibility, implementation, windows and missingness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Present estimates with uncertainty and explicit design limitations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Strengths, limitations and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Simple and useful for documenting local change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Highly vulnerable to time-related alternative explanations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adding a comparator or multiple observations before and after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Cochrane Handbook, Chapter 25: Assessing risk of bias in a non-randomized study.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www.cochrane.org/authors/handbooks-and-manuals/handbook/current/chapter-25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https://www.cochrane.org/authors/handbooks-and-manuals/handbook/current/chapter-25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JBI Critical Appraisal Tools.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jbi.global/critical-appraisal-tool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https://jbi.global/critical-appraisal-tools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itative Research Methods – Uncontrolled before-and-after study">
  <a:themeElements>
    <a:clrScheme name="Quantitative Research Methods – Uncontrolled before-and-after study">
      <a:dk1>
        <a:srgbClr val="1F2328"/>
      </a:dk1>
      <a:lt1>
        <a:srgbClr val="FFFFFF"/>
      </a:lt1>
      <a:dk2>
        <a:srgbClr val="59606B"/>
      </a:dk2>
      <a:lt2>
        <a:srgbClr val="F6EEEA"/>
      </a:lt2>
      <a:accent1>
        <a:srgbClr val="A0522D"/>
      </a:accent1>
      <a:accent2>
        <a:srgbClr val="733B20"/>
      </a:accent2>
      <a:accent3>
        <a:srgbClr val="E4CFC4"/>
      </a:accent3>
      <a:accent4>
        <a:srgbClr val="ECDCD5"/>
      </a:accent4>
      <a:accent5>
        <a:srgbClr val="8A929E"/>
      </a:accent5>
      <a:accent6>
        <a:srgbClr val="D9DDE3"/>
      </a:accent6>
      <a:hlink>
        <a:srgbClr val="A0522D"/>
      </a:hlink>
      <a:folHlink>
        <a:srgbClr val="733B20"/>
      </a:folHlink>
    </a:clrScheme>
    <a:fontScheme name="Quantitative Research Methods – Uncontrolled before-and-after stu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Uncontrolled before-and-after study</dc:title>
  <dc:subject>Quantitative Research Methods</dc:subject>
  <dc:creator>PptxGenJS</dc:creator>
  <cp:lastModifiedBy>PptxGenJS</cp:lastModifiedBy>
  <cp:revision>1</cp:revision>
  <dcterms:created xsi:type="dcterms:W3CDTF">2026-10-10T16:27:35Z</dcterms:created>
  <dcterms:modified xsi:type="dcterms:W3CDTF">2026-10-10T16:27:35Z</dcterms:modified>
</cp:coreProperties>
</file>