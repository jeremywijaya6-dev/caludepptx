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f2cf07-de71-36c3-46af-4655f3cdaaba}">
          <p14:sldIdLst>
            <p14:sldId id="256"/>
            <p14:sldId id="257"/>
          </p14:sldIdLst>
        </p14:section>
        <p14:section name="Core content" id="{b60e421f-2f08-5878-8957-53a07fbad7d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4636b5ab-6cde-9646-619e-7f306f69f52a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exposure and outcome patterns at the group level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groups such as regions, institutions or time periods
Use aggregate exposure and outcome measures
Keep group-level and individual-level questions distinct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population patterns or investigate group-level associations
Study policies or contextual exposures
Match conclusions to the level of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multiple groups at one time or one group across time
Consider panel data with groups observed repeatedly
Distinguish observational comparisons from intervention-focused time-series designs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the exposure operates at group level or only aggregate data exist
Assess data comparability across units
Avoid using aggregate data to answer an individual question without justification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population units, exposure and outcome
Define the period and association of interest
State whether the aim is contextual or hypothesis-generating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regional deprivation and rates of late glaucoma diagnosis
Compare regions using consistent definitions
Interpret the association at regional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geographic or organizational units consistently
Explain exclusions and changes in boundaries
Recognize that results can depend on the aggregation scale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group means, proportions or policy indicators
Assess whether the measure captures the intended exposure
Consider exposure timing and relevant lag periods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counts, rates or standardized measures suited to the question
Verify population denominators and case definitions
Distinguish prevalence, incidence and service-use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compatible registries, census data or administrative sources
Align time periods and geographic identifiers
Document mismatches and source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age structure, case detection and measurement differences
Use standardization where appropriate to the estimand
Avoid comparing crude rates as if populations were identical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group distributions and inspect extreme units
Plot maps or scatterplots with clear scales
Check whether a few groups dominate the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methods suited to continuous outcomes, counts or rates
Distinguish correlation from a causal effect
Specify model assumptions and uncertainty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whether groups contribute equally or by population size
Recognize that weighting changes the estimand
Address unstable rates from small populations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socioeconomic conditions, healthcare access and demographic composition
Select adjustments using a causal rationale
Recognize remaining individual and contextual confounding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association between groups need not describe associations within individuals
Illustrate how aggregation can obscure individual relationships
Do not interpret regional deprivation as each patient's exposure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Nearby regions and repeated measurements may be correlated
Use appropriate models or uncertainty estimates
Consider spillover and time-varying contextual factors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alternative group definitions, lags and influential-unit exclusions
Examine measurement choices and missing units
Keep analyses tied to the question rather than searching for significance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scatterplot shows higher late-diagnosis rates in more deprived regions
Discuss group-level access and case-detection explanations
Identify individual data needed to investigate patient-level mechanisms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aggregate data may still carry disclosure risks in small cells
Follow data-use and local review requirements
Explain underreporting and mismatched source periods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ecological unit, sources, dates and analysis clearly
Report uncertainty and group-level confounding
Make the inference level explicit in the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for contextual questions and population surveillance
Group-level findings require group-level interpretation
Discuss when multilevel or individual-level follow-up is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Ecological studies: use with caution. Primary methodological article. https://pmc.ncbi.nlm.nih.gov/articles/PMC3905433/
CDC Field Epidemiology Manual: Designing and Conducting Analytic Studies in the Field. https://www.cdc.gov/field-epi-manual/php/chapters/design-conduct-analyze-field-studies.html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03  ·  Ecological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03  ·  Ecological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3905433/" TargetMode="External"/><Relationship Id="rId5" Type="http://schemas.openxmlformats.org/officeDocument/2006/relationships/hyperlink" Target="https://www.cdc.gov/field-epi-manual/php/chapters/design-conduct-analyze-field-studies.html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03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Ecological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Examine exposure and outcome patterns at the group level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unit of analysis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groups such as regions, institutions or time periods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aggregate exposure and outcome measures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Keep group-level and individual-level questions distinct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Purpose and design scope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population patterns or investigate group-level associations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Study policies or contextual exposures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Match conclusions to the level of the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ecological study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multiple groups at one time or one group across time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panel data with groups observed repeatedly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observational comparisons from intervention-focused time-series designs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an ecological design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the exposure operates at group level or only aggregate data exist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data comparability across units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using aggregate data to answer an individual question without justification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the population units, exposure and outcome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period and association of interest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whether the aim is contextual or hypothesis-generating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regional deprivation and rates of late glaucoma diagnosis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regions using consistent definitions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Interpret the association at regional level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groups and boundaries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geographic or organizational units consistently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exclusions and changes in boundaries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results can depend on the aggregation scale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Exposure measurement</a:t>
            </a:r>
            <a:endParaRPr lang="en-US" sz="3200" dirty="0"/>
          </a:p>
        </p:txBody>
      </p:sp>
      <p:graphicFrame>
        <p:nvGraphicFramePr>
          <p:cNvPr id="11" name="Exposure measure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Define group means, proportions or policy indicators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Assess whether the measure captures the intended exposure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exposure timing and relevant lag periods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 measurement and denominators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counts, rates or standardized measures suited to the question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Verify population denominators and case definitions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prevalence, incidence and service-use outcomes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sources and linkage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Combine compatible registries, census data or administrative sources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Align time periods and geographic identifiers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mismatches and source limitations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Comparability and standardization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age structure, case detection and measurement differences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standardization where appropriate to the estimand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comparing crude rates as if populations were identical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Descriptive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Summarize group distributions and inspect extreme units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Plot maps or scatterplots with clear scales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whether a few groups dominate the pattern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Correlation and regression</a:t>
            </a:r>
            <a:endParaRPr lang="en-US" sz="3200" dirty="0"/>
          </a:p>
        </p:txBody>
      </p:sp>
      <p:graphicFrame>
        <p:nvGraphicFramePr>
          <p:cNvPr id="16" name="Correlation and regres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methods suited to continuous outcomes, counts or rates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correlation from a causal effect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Specify model assumptions and uncertainty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Weighting and group size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whether groups contribute equally or by population size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weighting changes the estimand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Address unstable rates from small populations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Confounding at the group level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socioeconomic conditions, healthcare access and demographic composition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Select adjustments using a causal rationale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remaining individual and contextual confounding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Ecological fallacy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 association between groups need not describe associations within individuals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Illustrate how aggregation can obscure individual relationships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 not interpret regional deprivation as each patient's exposure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Spatial and temporal dependence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Nearby regions and repeated measurements may be correlated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appropriate models or uncertainty estimates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spillover and time-varying contextual factors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Sensitivity analyses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Test alternative group definitions, lags and influential-unit exclusions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measurement choices and missing units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analyses tied to the question rather than searching for significance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interpretation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Scatterplot shows higher late-diagnosis rates in more deprived regions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group-level access and case-detection explanations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individual data needed to investigate patient-level mechanisms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data limitations</a:t>
            </a:r>
            <a:endParaRPr lang="en-US" sz="3200" dirty="0"/>
          </a:p>
        </p:txBody>
      </p:sp>
      <p:graphicFrame>
        <p:nvGraphicFramePr>
          <p:cNvPr id="23" name="Ethics and data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Public aggregate data may still carry disclosure risks in small cells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Follow data-use and local review requirements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underreporting and mismatched source periods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Reporting and critical appraisal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the ecological unit, sources, dates and analysis clearly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Report uncertainty and group-level confounding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the inference level explicit in the conclusion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Strengths, limitations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Useful for contextual questions and population surveillance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Group-level findings require group-level interpretation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when multilevel or individual-level follow-up is needed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Ecological studies: use with caution. Primary methodological article.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mc.ncbi.nlm.nih.gov/articles/PMC3905433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https://pmc.ncbi.nlm.nih.gov/articles/PMC3905433/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CDC Field Epidemiology Manual: Designing and Conducting Analytic Studies in the Field.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dc.gov/field-epi-manual/php/chapters/design-conduct-analyze-field-studie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https://www.cdc.gov/field-epi-manual/php/chapters/design-conduct-analyze-field-studies.html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Ecological study">
  <a:themeElements>
    <a:clrScheme name="Quantitative Research Methods – Ecological study">
      <a:dk1>
        <a:srgbClr val="1F2328"/>
      </a:dk1>
      <a:lt1>
        <a:srgbClr val="FFFFFF"/>
      </a:lt1>
      <a:dk2>
        <a:srgbClr val="59606B"/>
      </a:dk2>
      <a:lt2>
        <a:srgbClr val="EAF0EB"/>
      </a:lt2>
      <a:accent1>
        <a:srgbClr val="2E6B3A"/>
      </a:accent1>
      <a:accent2>
        <a:srgbClr val="214D2A"/>
      </a:accent2>
      <a:accent3>
        <a:srgbClr val="C4D6C8"/>
      </a:accent3>
      <a:accent4>
        <a:srgbClr val="D5E1D8"/>
      </a:accent4>
      <a:accent5>
        <a:srgbClr val="8A929E"/>
      </a:accent5>
      <a:accent6>
        <a:srgbClr val="D9DDE3"/>
      </a:accent6>
      <a:hlink>
        <a:srgbClr val="2E6B3A"/>
      </a:hlink>
      <a:folHlink>
        <a:srgbClr val="214D2A"/>
      </a:folHlink>
    </a:clrScheme>
    <a:fontScheme name="Quantitative Research Methods – Ecological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Ecological study</dc:title>
  <dc:subject>Quantitative Research Methods</dc:subject>
  <dc:creator>PptxGenJS</dc:creator>
  <cp:lastModifiedBy>PptxGenJS</cp:lastModifiedBy>
  <cp:revision>1</cp:revision>
  <dcterms:created xsi:type="dcterms:W3CDTF">2026-10-10T16:27:34Z</dcterms:created>
  <dcterms:modified xsi:type="dcterms:W3CDTF">2026-10-10T16:27:34Z</dcterms:modified>
</cp:coreProperties>
</file>