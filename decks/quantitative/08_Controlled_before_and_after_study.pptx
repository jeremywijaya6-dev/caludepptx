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5adc64f-a78e-21f3-67e4-b83034ea59b5}">
          <p14:sldIdLst>
            <p14:sldId id="256"/>
            <p14:sldId id="257"/>
          </p14:sldIdLst>
        </p14:section>
        <p14:section name="Core content" id="{abff4db1-5436-43b6-38eb-08d9d1c7cca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a8970560-e686-b795-729f-27aea6603800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pre-post changes between an intervention group and a nonrandomized comparison group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outcomes in intervention and comparison groups before and after implementation
Allocation is not randomized
Use the comparison group to assess background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change associated with an intervention beyond a comparison group's change
Examine assumptions supporting that contrast
Recognize overlap with nonrandomized intervention studies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service or policy changes when randomization is impractical
Seek a plausible contemporaneous comparison
Consider whether longer time-series data are available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intervention, comparison, population and time windows
Define the main outcome and desired effect
State the intended causal contrast and 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 reminder system introduced at one clinic but not another
Measure attendance before and after at both clinics
Assess differences in populations and background trends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whether interventions are assigned to clinics, wards or individuals
Distinguish allocation units from outcome observations
Account for clustered data in planning and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a group with similar determinants of the outcome
Align calendar periods and eligibility
Avoid selection based only on matching one baseline mean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one group received the intervention
Identify decision-makers and allocation criteria
Consider how those criteria also predict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differences in demographics, services and outcomes
Assess determinants relevant to the research question
Avoid interpreting nonsignificant baseline tests as proof of equivalence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content, timing and implementation fidelity
Record other changes in both groups
Identify spillover and contamination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comparable pre and post data in both groups
Use common windows and outcome definitions
Obtain additional pre-intervention periods when feasible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using the unit of allocation, effect and expected variability
Account for clustering and repeated measurement
Large patient counts cannot compensate for very few independent 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consistent numerator and denominator rules across groups and time
Verify coding stability
Record population turnover and missing observations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intervention group's change with the comparison group's change
Define the interaction contrast as the target estimate where appropriate
Explain the counterfactual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untreated outcome changes would have been comparable, conditional on the chosen framework
Inspect pre-intervention trends when available
Recognize that similar baseline values do not establish parallel trends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regression suited to the outcome and dependence structure
Estimate group-by-period effects when that matches the estimand
Report absolute or relative effects with uncertainty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for correlation within sites and within participants
Choose methods suited to the number of independent units
Explain small-cluster uncertainty limitations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time-varying changes affecting groups differently
Adjust measured factors using a causal rationale
A comparator does not eliminate all confounding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whether comparison participants receive elements of the intervention
Assess turnover or altered referral pathways
Explain how these changes affect the contrast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attendance changes from 60% to 75% in the intervention group and 65% to 70% in controls
The difference in changes is 10 percentage points
Causal interpretation still requires credible 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alternative windows, comparators and outcome definitions
Test sensitivity to site differences and missingness
Follow applicable intervention and data-review requirements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allocation, comparison selection, pre-post measurements and assumptions
Explain clustering, concurrent changes and implementation
Discuss whether the comparator credibly represents untreated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Cochrane Handbook, Chapter 25: Assessing risk of bias in a non-randomized study. https://www.cochrane.org/authors/handbooks-and-manuals/handbook/current/chapter-25
Cochrane EPOC: study-design guidance. https://epoc.cochrane.org/sites/epoc.cochrane.org/files/uploads/Resources-for-authors2017/what_study_designs_should_be_included_in_an_epoc_review.pdf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08  ·  Controlled before-and-after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08  ·  Controlled before-and-after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chrane.org/authors/handbooks-and-manuals/handbook/current/chapter-25" TargetMode="External"/><Relationship Id="rId5" Type="http://schemas.openxmlformats.org/officeDocument/2006/relationships/hyperlink" Target="https://epoc.cochrane.org/sites/epoc.cochrane.org/files/uploads/Resources-for-authors2017/what_study_designs_should_be_included_in_an_epoc_review.pdf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08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Controlled before-and-after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Compare pre-post changes between an intervention group and a nonrandomized comparison group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structure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outcomes in intervention and comparison groups before and after implementation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Allocation is not randomized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Use the comparison group to assess background changes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Purpose and design scope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Estimate change associated with an intervention beyond a comparison group's change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assumptions supporting that contrast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overlap with nonrandomized intervention studies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the design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service or policy changes when randomization is impractical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Seek a plausible contemporaneous comparison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Consider whether longer time-series data are available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intervention, comparison, population and time windows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main outcome and desired effect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the intended causal contrast and assumptions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a reminder system introduced at one clinic but not another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Measure attendance before and after at both clinics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Assess differences in populations and background trends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Unit of allocation and analysis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whether interventions are assigned to clinics, wards or individuals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allocation units from outcome observations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clustered data in planning and analysis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the comparison group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 group with similar determinants of the outcome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Align calendar periods and eligibility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selection based only on matching one baseline mean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Documenting nonrandom allocation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one group received the intervention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decision-makers and allocation criteria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how those criteria also predict outcomes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 comparability</a:t>
            </a:r>
            <a:endParaRPr lang="en-US" sz="3200" dirty="0"/>
          </a:p>
        </p:txBody>
      </p:sp>
      <p:graphicFrame>
        <p:nvGraphicFramePr>
          <p:cNvPr id="12" name="Baseline comparabil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Describe differences in demographics, services and outcomes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Assess determinants relevant to the research question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interpreting nonsignificant baseline tests as proof of equivalence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Intervention and co-interventions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content, timing and implementation fidelity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other changes in both groups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spillover and contamination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Measurement schedules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Collect comparable pre and post data in both groups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common windows and outcome definitions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Obtain additional pre-intervention periods when feasible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and power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Plan using the unit of allocation, effect and expected variability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clustering and repeated measurement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Large patient counts cannot compensate for very few independent sites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Outcome definitions and denominators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consistent numerator and denominator rules across groups and time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Verify coding stability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Record population turnover and missing observations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Difference-in-differences logic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the intervention group's change with the comparison group's change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Define the interaction contrast as the target estimate where appropriate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counterfactual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Parallel trends and related assumptions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Assume untreated outcome changes would have been comparable, conditional on the chosen framework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Inspect pre-intervention trends when available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similar baseline values do not establish parallel trends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Statistical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regression suited to the outcome and dependence structure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Estimate group-by-period effects when that matches the estimand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Report absolute or relative effects with uncertainty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Clustering and repeated measures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correlation within sites and within participants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Choose methods suited to the number of independent units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small-cluster uncertainty limitations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Confounding and differential changes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time-varying changes affecting groups differently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Adjust measured factors using a causal rationale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 comparator does not eliminate all confounding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Contamination and population shifts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Check whether comparison participants receive elements of the intervention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turnover or altered referral pathways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these changes affect the contrast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difference-in-differences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changes from 60% to 75% in the intervention group and 65% to 70% in controls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 difference in changes is 10 percentage points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Causal interpretation still requires credible assumptions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Sensitivity analyses and ethics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alternative windows, comparators and outcome definitions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Test sensitivity to site differences and missingness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Follow applicable intervention and data-review requirements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strengths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allocation, comparison selection, pre-post measurements and assumptions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Explain clustering, concurrent changes and implementation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whether the comparator credibly represents untreated change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Cochrane Handbook, Chapter 25: Assessing risk of bias in a non-randomized study.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cochrane.org/authors/handbooks-and-manuals/handbook/current/chapter-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https://www.cochrane.org/authors/handbooks-and-manuals/handbook/current/chapter-25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Cochrane EPOC: study-design guidance.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epoc.cochrane.org/sites/epoc.cochrane.org/files/uploads/Resources-for-authors2017/what_study_designs_should_be_included_in_an_epoc_review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https://epoc.cochrane.org/sites/epoc.cochrane.org/files/uploads/Resources-for-authors2017/what_study_designs_should_be_included_in_an_epoc_review.pdf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Controlled before-and-after study">
  <a:themeElements>
    <a:clrScheme name="Quantitative Research Methods – Controlled before-and-after study">
      <a:dk1>
        <a:srgbClr val="1F2328"/>
      </a:dk1>
      <a:lt1>
        <a:srgbClr val="FFFFFF"/>
      </a:lt1>
      <a:dk2>
        <a:srgbClr val="59606B"/>
      </a:dk2>
      <a:lt2>
        <a:srgbClr val="EBEDF4"/>
      </a:lt2>
      <a:accent1>
        <a:srgbClr val="3B4F8C"/>
      </a:accent1>
      <a:accent2>
        <a:srgbClr val="2A3965"/>
      </a:accent2>
      <a:accent3>
        <a:srgbClr val="C8CEDF"/>
      </a:accent3>
      <a:accent4>
        <a:srgbClr val="D8DCE8"/>
      </a:accent4>
      <a:accent5>
        <a:srgbClr val="8A929E"/>
      </a:accent5>
      <a:accent6>
        <a:srgbClr val="D9DDE3"/>
      </a:accent6>
      <a:hlink>
        <a:srgbClr val="3B4F8C"/>
      </a:hlink>
      <a:folHlink>
        <a:srgbClr val="2A3965"/>
      </a:folHlink>
    </a:clrScheme>
    <a:fontScheme name="Quantitative Research Methods – Controlled before-and-after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Controlled before-and-after study</dc:title>
  <dc:subject>Quantitative Research Methods</dc:subject>
  <dc:creator>PptxGenJS</dc:creator>
  <cp:lastModifiedBy>PptxGenJS</cp:lastModifiedBy>
  <cp:revision>1</cp:revision>
  <dcterms:created xsi:type="dcterms:W3CDTF">2026-10-10T16:27:35Z</dcterms:created>
  <dcterms:modified xsi:type="dcterms:W3CDTF">2026-10-10T16:27:35Z</dcterms:modified>
</cp:coreProperties>
</file>